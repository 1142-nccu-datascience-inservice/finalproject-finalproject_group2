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0897493e5d43cd" /><Relationship Type="http://schemas.openxmlformats.org/officeDocument/2006/relationships/extended-properties" Target="/docProps/app.xml" Id="R8fcd719b3e49442c" /><Relationship Type="http://schemas.openxmlformats.org/officeDocument/2006/relationships/officeDocument" Target="/ppt/presentation.xml" Id="Rcfaf7d75a86541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1c566cc2f4294"/>
  </p:sldMasterIdLst>
  <p:notesMasterIdLst>
    <p:notesMasterId xmlns:r="http://schemas.openxmlformats.org/officeDocument/2006/relationships" r:id="R6eb1ed56378447a4"/>
  </p:notesMasterIdLst>
  <p:sldIdLst>
    <p:sldId xmlns:r="http://schemas.openxmlformats.org/officeDocument/2006/relationships" id="256" r:id="Rbd9153b6d6bf4ca6"/>
    <p:sldId xmlns:r="http://schemas.openxmlformats.org/officeDocument/2006/relationships" id="257" r:id="Rdd30a6a0cc5b467c"/>
    <p:sldId xmlns:r="http://schemas.openxmlformats.org/officeDocument/2006/relationships" id="258" r:id="Rdea2612fb89945cf"/>
    <p:sldId xmlns:r="http://schemas.openxmlformats.org/officeDocument/2006/relationships" id="259" r:id="R2942a30811d04c1e"/>
    <p:sldId xmlns:r="http://schemas.openxmlformats.org/officeDocument/2006/relationships" id="260" r:id="Rb5adc87462dd4322"/>
    <p:sldId xmlns:r="http://schemas.openxmlformats.org/officeDocument/2006/relationships" id="261" r:id="Rd7bdeb233a104a9e"/>
    <p:sldId xmlns:r="http://schemas.openxmlformats.org/officeDocument/2006/relationships" id="262" r:id="R127b623622d04c23"/>
    <p:sldId xmlns:r="http://schemas.openxmlformats.org/officeDocument/2006/relationships" id="263" r:id="Rc291eaf56d4342cd"/>
    <p:sldId xmlns:r="http://schemas.openxmlformats.org/officeDocument/2006/relationships" id="264" r:id="Re8f6a31c9ea14898"/>
    <p:sldId xmlns:r="http://schemas.openxmlformats.org/officeDocument/2006/relationships" id="265" r:id="R108cac2ac9614941"/>
    <p:sldId xmlns:r="http://schemas.openxmlformats.org/officeDocument/2006/relationships" id="266" r:id="R45cda6da12714e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6157e394b3400b" /><Relationship Type="http://schemas.openxmlformats.org/officeDocument/2006/relationships/slideMaster" Target="/ppt/slideMasters/slideMaster1.xml" Id="R9031c566cc2f4294" /><Relationship Type="http://schemas.openxmlformats.org/officeDocument/2006/relationships/notesMaster" Target="/ppt/notesMasters/notesMaster1.xml" Id="R6eb1ed56378447a4" /><Relationship Type="http://schemas.openxmlformats.org/officeDocument/2006/relationships/presProps" Target="/ppt/presProps.xml" Id="R576c09f500cc44ff" /><Relationship Type="http://schemas.openxmlformats.org/officeDocument/2006/relationships/viewProps" Target="/ppt/viewProps.xml" Id="Rf3fa870d64a24352" /><Relationship Type="http://schemas.openxmlformats.org/officeDocument/2006/relationships/tableStyles" Target="/ppt/tableStyles.xml" Id="R81b8f93429c149a3" /><Relationship Type="http://schemas.openxmlformats.org/officeDocument/2006/relationships/slide" Target="/ppt/slides/slide1.xml" Id="Rbd9153b6d6bf4ca6" /><Relationship Type="http://schemas.openxmlformats.org/officeDocument/2006/relationships/slide" Target="/ppt/slides/slide2.xml" Id="Rdd30a6a0cc5b467c" /><Relationship Type="http://schemas.openxmlformats.org/officeDocument/2006/relationships/slide" Target="/ppt/slides/slide3.xml" Id="Rdea2612fb89945cf" /><Relationship Type="http://schemas.openxmlformats.org/officeDocument/2006/relationships/slide" Target="/ppt/slides/slide4.xml" Id="R2942a30811d04c1e" /><Relationship Type="http://schemas.openxmlformats.org/officeDocument/2006/relationships/slide" Target="/ppt/slides/slide5.xml" Id="Rb5adc87462dd4322" /><Relationship Type="http://schemas.openxmlformats.org/officeDocument/2006/relationships/slide" Target="/ppt/slides/slide6.xml" Id="Rd7bdeb233a104a9e" /><Relationship Type="http://schemas.openxmlformats.org/officeDocument/2006/relationships/slide" Target="/ppt/slides/slide7.xml" Id="R127b623622d04c23" /><Relationship Type="http://schemas.openxmlformats.org/officeDocument/2006/relationships/slide" Target="/ppt/slides/slide8.xml" Id="Rc291eaf56d4342cd" /><Relationship Type="http://schemas.openxmlformats.org/officeDocument/2006/relationships/slide" Target="/ppt/slides/slide9.xml" Id="Re8f6a31c9ea14898" /><Relationship Type="http://schemas.openxmlformats.org/officeDocument/2006/relationships/slide" Target="/ppt/slides/slide10.xml" Id="R108cac2ac9614941" /><Relationship Type="http://schemas.openxmlformats.org/officeDocument/2006/relationships/slide" Target="/ppt/slides/slide11.xml" Id="R45cda6da12714e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d8dc2073234f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c6bedce994398" /><Relationship Type="http://schemas.openxmlformats.org/officeDocument/2006/relationships/notesMaster" Target="/ppt/notesMasters/notesMaster1.xml" Id="Rc2cffa9593ca42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8b14a369364048" /><Relationship Type="http://schemas.openxmlformats.org/officeDocument/2006/relationships/notesMaster" Target="/ppt/notesMasters/notesMaster1.xml" Id="Rd62834060667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f5cd46dcf542b6" /><Relationship Type="http://schemas.openxmlformats.org/officeDocument/2006/relationships/notesMaster" Target="/ppt/notesMasters/notesMaster1.xml" Id="R03472c140cf447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d9a51bffca48e4" /><Relationship Type="http://schemas.openxmlformats.org/officeDocument/2006/relationships/notesMaster" Target="/ppt/notesMasters/notesMaster1.xml" Id="Rf3c8b70d3cd245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98aa38612e4c28" /><Relationship Type="http://schemas.openxmlformats.org/officeDocument/2006/relationships/notesMaster" Target="/ppt/notesMasters/notesMaster1.xml" Id="Ra2af761f266841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6c910bc223431e" /><Relationship Type="http://schemas.openxmlformats.org/officeDocument/2006/relationships/notesMaster" Target="/ppt/notesMasters/notesMaster1.xml" Id="R10b65a82ce5944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b5978d4863454f" /><Relationship Type="http://schemas.openxmlformats.org/officeDocument/2006/relationships/notesMaster" Target="/ppt/notesMasters/notesMaster1.xml" Id="R8bc29421d5884b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20b858f4904d2a" /><Relationship Type="http://schemas.openxmlformats.org/officeDocument/2006/relationships/notesMaster" Target="/ppt/notesMasters/notesMaster1.xml" Id="R737f9120796547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dd5708f23449a7" /><Relationship Type="http://schemas.openxmlformats.org/officeDocument/2006/relationships/notesMaster" Target="/ppt/notesMasters/notesMaster1.xml" Id="R2adcaf5961f64f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65b12382414740" /><Relationship Type="http://schemas.openxmlformats.org/officeDocument/2006/relationships/notesMaster" Target="/ppt/notesMasters/notesMaster1.xml" Id="R5c24963caf4249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7a24034b5b4f1d" /><Relationship Type="http://schemas.openxmlformats.org/officeDocument/2006/relationships/notesMaster" Target="/ppt/notesMasters/notesMaster1.xml" Id="R0274f37865644d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45861446b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8def2689fd4fea" /><Relationship Type="http://schemas.openxmlformats.org/officeDocument/2006/relationships/slideLayout" Target="/ppt/slideLayouts/slideLayout1.xml" Id="Re3f21bb32e864d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f21bb32e864d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8fa5c81ae43ce" /><Relationship Type="http://schemas.openxmlformats.org/officeDocument/2006/relationships/notesSlide" Target="/ppt/notesSlides/notesSlide1.xml" Id="Rd22f2a40e24747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49fa33928472b" /><Relationship Type="http://schemas.openxmlformats.org/officeDocument/2006/relationships/notesSlide" Target="/ppt/notesSlides/notesSlide2.xml" Id="Rae170d80ce9c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01cbc41fb4b4a" /><Relationship Type="http://schemas.openxmlformats.org/officeDocument/2006/relationships/notesSlide" Target="/ppt/notesSlides/notesSlide3.xml" Id="Rb1c4f9b7598943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d61bcef454661" /><Relationship Type="http://schemas.openxmlformats.org/officeDocument/2006/relationships/notesSlide" Target="/ppt/notesSlides/notesSlide4.xml" Id="R092a6c239bb042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daad1e18a42ef" /><Relationship Type="http://schemas.openxmlformats.org/officeDocument/2006/relationships/notesSlide" Target="/ppt/notesSlides/notesSlide5.xml" Id="Rdf241746542f46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8d2ab6a9a470d" /><Relationship Type="http://schemas.openxmlformats.org/officeDocument/2006/relationships/notesSlide" Target="/ppt/notesSlides/notesSlide6.xml" Id="R799edde4d19445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a734dc1c14d32" /><Relationship Type="http://schemas.openxmlformats.org/officeDocument/2006/relationships/notesSlide" Target="/ppt/notesSlides/notesSlide7.xml" Id="R9b04ba28836d4e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650bedbdf4066" /><Relationship Type="http://schemas.openxmlformats.org/officeDocument/2006/relationships/notesSlide" Target="/ppt/notesSlides/notesSlide8.xml" Id="Ra71db08d0ce248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2bd259e3a4a4b" /><Relationship Type="http://schemas.openxmlformats.org/officeDocument/2006/relationships/notesSlide" Target="/ppt/notesSlides/notesSlide9.xml" Id="Re839c2c4e83d47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3844b2cd44c17" /><Relationship Type="http://schemas.openxmlformats.org/officeDocument/2006/relationships/notesSlide" Target="/ppt/notesSlides/notesSlide10.xml" Id="R9c01860cf9b849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cd56406674456" /><Relationship Type="http://schemas.openxmlformats.org/officeDocument/2006/relationships/notesSlide" Target="/ppt/notesSlides/notesSlide11.xml" Id="Rfec27ab8eeca46a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2957A-1E5A-4AD2-B1AE-BA481616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A556F-38FB-4D5D-B3B7-C81F3822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Stock Direction Prediction &amp; Backtest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F782D-D29A-4742-9EE9-ACB10A1F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6 tickers x 4 settings: 1-day vs 5-day, with vs without volatility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CF785-2DEB-4365-BD4F-BC57E55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809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Core finding: next-day direction is noisy. Moving to a 5-day target with signal confirmation improves classification quality, but trading value still depends on ticker trend, leverage exposure, and drawdown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0E0FE-C1CB-4B8C-B056-4C85A55B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3A4C4-026C-4A65-9D13-ACA14622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Tickers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FA87D-EB4B-4780-BB83-A7CDAA8C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028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FCDA0-FA52-4633-B472-1DEADF2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ETFs, mega caps, event-driven names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680CD-7533-40AA-BD45-AF8A149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78773-6418-41AE-93F9-9DBA10F3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81350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C1C90-1F05-4DF9-A519-6C7581A0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2028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CA267-242A-41FC-BA04-ECCE33C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957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1D/5D x volatility toggle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28FCD-8FD0-493C-8C50-CC9171CE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DF835-FB91-41F9-8BF4-857A57A4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81350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Experiments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205A2-8D67-4214-94AC-81085A12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90900"/>
            <a:ext cx="2028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AA6CE-3AB2-45EC-9ABD-602456FB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957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Each re-selects model +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70DE5-3AB0-4EC8-A17A-0425554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072C3-BB87-4C2F-9125-16A46DB0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81350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Period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ADD38-585E-49BC-9A18-38020DBD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90900"/>
            <a:ext cx="2028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2018-2026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EC5EB-6A38-4568-BC42-47A53200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957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Yahoo Finance OHLCV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BA79A-3D33-4B0C-B466-0CA5E504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512BB8-E945-4AC7-8445-40716F06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1-day 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D546AE-0B19-4026-BD55-07CC3CD3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62684A-2064-4BD3-A443-0728314A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91050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5-day confirm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FF815-6E1F-4E0A-B388-A3B4440A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48C3FE-A180-4F5C-8606-2034C946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Volatility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9AFF5C-C799-472F-8FA3-C92672B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243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6682D2-513F-40AB-ADA4-C94CB1C8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910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Validation selection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857B9-61B7-4990-921B-F53246D4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Final project analysis deck ? generated from local experiment outputs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A9A5AA-FD71-4C0E-924E-EAFB95CD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37052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1FC3C-E528-4BEF-B1A4-37D0CAA0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D87A5-87EA-41E2-8768-3B675F57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63A8-75CA-477C-A399-8AF83F13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EXPERIMENT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06ABF-76CD-4C0B-A496-0F1E07D6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comparison changes the target horizon and the feature set, not just the ticker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2E5F0-D5A3-4D58-816D-CFDEFDC0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All settings use chronological train / validation / test splits. Model and threshold are selected by validation strategy return.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A2FED-2E45-4FD1-B0A4-BFA6980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881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13709-7835-4A23-BD2D-8ABD6BDF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24100"/>
            <a:ext cx="962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D51F2-66A6-4172-98A1-DE5A3DCF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2410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C7026-C6C3-4508-8F6B-49D51BC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1581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1423F-1B56-4B95-8AB3-7DC2563A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24100"/>
            <a:ext cx="2247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Backtest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8740F-E292-42C7-AE88-4DB59F66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1962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BC846-04F7-495F-9C8D-5245BBB0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44CE4-B81E-4CCB-A9C0-D6BBB21B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76525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1d_base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9A68A-DD78-41BB-A862-4CA6A699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765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1-day direction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8539F-7AA2-4004-A359-B09DDD1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technicals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56C58-E6F1-4706-875D-3562FC28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765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Daily signal, next-day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06CDE-8E7F-42A3-8388-915DDC43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7652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Short-horizon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BFCF1-0AFA-4013-A009-5D3BFF2D1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3DB31-0756-475F-94FB-A1396620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33725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1d_vol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687A9-C448-4B97-9254-A9C5F7A3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337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1-day 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4AABC-6EB7-4E75-A645-995C1F1E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337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+ volatility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B807A-6A6F-4737-BEBF-6849A7EC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337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Daily signal, next-day 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CB397-CDF8-4B21-A551-02B155B5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3372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Does volatility help short-term?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3B5311-AF77-4672-90B1-348FDAA3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CF88F0-BFBF-46AE-BD34-4B23EFFE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90925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5d_base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FF919B-8FD2-4F23-BFF2-F572542B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909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Future 5-day direction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917749-2393-484C-A874-99887BD5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909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technicals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CAB71E-49C7-4FBE-A670-761B278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909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Two-day confirmation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CE4AA-95E8-4AC7-81E3-08361C9C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9092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Reduce next-day noise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8B0C55-0E8F-4F64-A0AD-4CDF4AB8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881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F70F6B-9531-447E-960C-57FCEBE2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48125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5d_vol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BCB8F8-70C8-4768-808A-FF1D5516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481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Future 5-day direction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CEDCC-CF49-4504-A3B3-20C4BF4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+ volatility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529597-ED31-4127-8360-53240501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48125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Two-day confirmation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2F28CE-619F-4C61-AEE5-C91B5CDD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48125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Main enhanced setting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EDE6D2-F139-438B-9146-62C3BC5D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1CC213-31C0-45D1-90BB-D3DCA108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285113-8646-4853-9B8E-3581ACEF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4648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Volatility features: ATR ratio, 20-day historical volatility, 20-day volume ratio, and Bollinger Band width. All are computed from existing OHLCV data.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45352D-7EEC-4F51-A631-4DA239E9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993798-E807-4119-9635-F7C4FA0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3D97F4-6F49-4AC9-9D66-3EB8366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38750"/>
            <a:ext cx="46482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Important discipline: test results are not used for model choice. Validation return chooses the model; test is the final out-of-sample report.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463E76-5082-465B-B578-A6BF085D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9A7E95-0123-4CEC-A750-CD419957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447621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FEB815-0142-4BC6-A234-F6A930AC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75059-F4F8-40C8-9A09-90DAF60D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7B7D5-4C53-4BFC-A9BE-48A88454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AGGREGATE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075A2-34E6-4D47-BC57-E157ADF9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The 5-day target improves signal quality; volatility helps more at the 5-day horizon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E0C4F-B425-4C79-BA68-27205A5C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Across 6 tickers, 1-day direction remains close to a noisy coin flip. 5-day settings improve F1 most clearly.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5FF9E-D817-4829-9937-6D08ABDD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14A28-3D0C-4F66-AE2B-A6CAECE3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6E945-53B6-43A7-A767-34AEDA4D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336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46E7B-CE3F-4892-B68C-0CFEC19B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95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+57.8%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FDE39-E0AB-45E9-90D8-A499D65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Excess return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E732C-1E43-4F2F-95E7-69E2618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4249F-7155-46EF-A3A6-4B0A3B4D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126133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F413D-7FD5-43FD-B822-632E1E4A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955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-17.8%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6212C-8248-4FF6-9B36-31935BB3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860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Acc 51.3%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D8D16-79CA-45C7-B94A-B0C184A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86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2/6 wins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CDCD22-4B93-4A1C-8735-B52F1F8D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+Volatility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E294B-B0F4-4465-B776-527C73F4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194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2CBEA-67F5-46CC-B96A-50A7D3BF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19425"/>
            <a:ext cx="323810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AA3C4-6361-4699-A874-5639F18B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813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+54.6%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0129A-D414-4DA6-B567-3E4FF1BE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Excess return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9CF93-F9B9-4732-9F51-55BFCCFF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9216A-B200-4E1E-908E-51FA8A01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148892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2B7669-02F2-4537-9419-3FA13D13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813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-21.0%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305F82-CDBA-4A20-A20B-DAC14377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718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Acc 51.9%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97395-385F-4384-9BE4-EDB37988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9718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0/6 wins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7D7E28-6F50-40B1-A2C0-8CBEE5C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Base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07BA3-1A3D-4C70-82D8-BDA50A90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052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B2BAED-CD3B-4B3E-99BD-A831183E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05225"/>
            <a:ext cx="2557512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4848E-F558-49F3-AA0B-0FE55083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671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+43.1%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CE5F2-41E1-4219-A535-3DBA4A61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766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Excess return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76303A-A793-4A78-874E-12140840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052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61C7EA-7FCF-4416-8F70-A6562822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05225"/>
            <a:ext cx="198686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6695C2-27AB-4B81-AB3A-93DEC86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671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-28.1%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71DC2-EF18-4CED-A5CB-5E211061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6576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Acc 54.1%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D7819-EFD7-4A5A-ADF5-4E2FEA13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6576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2/6 wins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391132-8082-4820-A630-86735F21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+Volatility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6FD43A-D10D-43D9-A7FC-CF24B818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91025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CAD885-5ED3-41CF-840E-AB18C41C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91025"/>
            <a:ext cx="332287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0E1799-6B9F-46FA-AD42-C38A08B5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529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+56.0%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098FB9-A955-4E13-95D3-4F228C6A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Excess return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C785EE-198C-40B3-B6FB-6025A271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91025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5052A7-652F-468D-AF16-14ECD773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91025"/>
            <a:ext cx="107438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60D20B-7358-41FA-92D8-F6580FE8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529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-15.2%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CA0764-0A98-4278-81E3-E7AD7BC3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434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Acc 52.9%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54232D-51AF-4E33-89C2-62E3CCF3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434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4/6 wins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2B3072-4781-4C5D-8277-42CFC1A9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D8BE4C-4B1F-479C-8EAD-A64B1E68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Best avg accuracy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9CB4F9-18BE-40FF-A039-806ABFC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2028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5D / Base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7D5D3F-940F-499E-8E43-3A6819B2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7695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Accuracy 54.1%, F1 62.1%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DA5CE5-A3C7-4041-AAA4-62761453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292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59DAF6-714D-41B0-8F72-A3E04405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62600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Most wins vs B&amp;H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6E01BE-9939-4902-BB71-6A72EFA9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772150"/>
            <a:ext cx="2028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5D / +Vol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96EF40-6920-448A-A30E-E90D293D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07695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4 of 6 tickers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B495EF-1AFA-488F-9F73-3E321670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292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D0A58B-6EB9-4FCC-BBBF-B4BA9A9F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62600"/>
            <a:ext cx="2028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1D + volatility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475A79F-C96D-4DE1-984D-6A246F54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772150"/>
            <a:ext cx="20288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0 of 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E5046B8-D153-4E53-9979-EAA21F36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607695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Not useful for short horizon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77AFB3-8186-4B45-B943-1A951B39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1A7558-0977-41BF-AEDC-6A0FC3D2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FDBD31-BD35-41D4-AF5B-93A82B4B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5527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Interpretation: volatility features describe market regime better over several days than over one noisy next-day label.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592842-D56E-4943-BA63-8D66C21C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AFBFA8-08FF-4D74-96A0-CC1A6CC2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98144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EEF4D-725F-4885-B316-D319E5B8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65C62-9129-4AAE-AD99-7E647C45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DEE8A-6449-41C3-9096-50B039B6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DFF08-9020-4DCB-B185-783ADD8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Changing the target from 1 day to 5 days mainly improves label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AB5BB-1856-4D46-A9AA-4D6DDCDB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But trading performance does not automatically improve; position rules, leverage, and ticker trend still dominate.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BCA1D-4DA3-4170-B6E8-311E569D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AEFE4-F6D7-4DA4-BD9E-B4EA5671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Avg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894F3-9F1B-419D-BA03-218F8A5E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8127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51.3% -&gt; 54.1%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A9B6E-558F-4DCF-A9AC-F93C898E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Base features: 1D to 5D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9042B-29E1-4721-8BB0-50CF882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3625D-3DB2-46F2-91A4-E5FB4249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717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Avg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4706C-0934-46FB-9F1D-AE7CC860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8127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43.1% -&gt; 62.1%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CB762-A2C9-4457-A4AD-C81C82CA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860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More continuous direction signal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BC975-7F81-408D-9445-6C65BE0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D8D75-D71B-43E6-B666-B4390AA0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7172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Avg excess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FF007-CCB6-4A31-9C59-F52E0C6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8127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-17.8% -&gt; -28.1%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B4035-83BA-43AC-B209-B730F8E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86075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Better classification, not always better trading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90091-319F-4584-BEE8-BCF66F71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743C9-B1DD-48E5-B7A5-474D6A68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AE248-8651-4132-B0EA-5DC74558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4457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Reason 1: a 5-day label is closer to trend detection and less sensitive to tiny daily up/down noise.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CCBEE-7ACE-4A57-860A-472649F9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7E01F-3371-4D41-BBC4-EB97C96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195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B49EF-043E-46E1-A8B8-9E413B83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62375"/>
            <a:ext cx="44577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Reason 2: two-day confirmation reduces signal flicker, but it can react slowly during sharp reversals.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4BFD0-DC1B-498F-ADAA-5EA1DD47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995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E29A0-3EB5-45FB-B0E0-2EEAA31B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4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760C90-B8EE-4EE8-98A9-DA478A94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9648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Report message: redefining the prediction problem is more important than just swapping models; backtests must be interpreted with risk and exposure.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55871-8F70-4B8D-890F-7922C3F7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B9E19-77BA-4CF2-A87A-5E42B3A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66016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9B5D1-CA9D-42B0-8ED0-8589BD6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F458E-BCD2-4CFA-AF47-C453E1A6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252A9-F42A-4327-851D-7CBA013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TICKER RANKING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5FF10-A584-410D-88C9-88CDF53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Each ticker has a different best configuration; there is no universal winner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E800A-7930-427F-BA51-77BD2233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Ranking by excess return provides a balanced set of success, stable, and failure cases for the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2EECF-CF34-4357-AAE5-8C453146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43125"/>
            <a:ext cx="86010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5CA06-2FC4-410C-8C27-A0FD478F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08977-3494-406C-88A8-7C544F4E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2885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ED47D-A73F-4B6B-86F4-4F59DEA2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1343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246FC-698E-4FB4-A611-3E4B4C3F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228850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E2AFC-E43C-48CA-8994-2192C3B9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228850"/>
            <a:ext cx="533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AE2B9-5D8D-454A-86E4-6CEF3F6D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2885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9AE3E-34ED-435F-B290-AEC2DCAF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22885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B&amp;H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29B8C-15C3-4159-BCE2-4C77583C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2885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6EE21-59CA-41D4-ACB5-FCBB55F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86025"/>
            <a:ext cx="860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EAB2D-FF32-4DB9-80F6-B5396451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622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0050.TW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C9BBD-0A7A-4DB8-BB63-2AE55881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622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Yuanta Taiwan 50 ETF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E156D8-2F23-49C5-8B85-7070CE67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62225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+Volatility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220DF-CACC-4F33-9F16-14972E6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622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B1E650-4741-454D-A4A8-5F6A741F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5622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56.1%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523E9-4B09-40CE-9AEB-322D7771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622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+109.6%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4117B-342F-4CAA-A90A-57D9046F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5622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+53.3%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99E527-A00F-4B85-AD13-D307D451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622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+56.4%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16865C-7A45-4788-B5A7-557975BA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924175"/>
            <a:ext cx="860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197366-009B-4EFB-892C-F615FE1D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03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006208.TW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55D52-057E-4A76-9A52-A8801915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03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Fubon Taiwan 50 ETF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74128-19F2-43DF-A059-8424975E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00375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A8D776-4490-4116-B1AB-4A2EC9CB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003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LogisticRegression_Ridge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C0ED9-0610-40A0-9239-93F28E92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0003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52.2%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0562D-6C5B-49A8-9C7F-13C19DE9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003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+57.0%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4D609-0586-4597-A346-4F8692D5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003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+54.4%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1F589-51AA-47B5-B6DA-F100CE5A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+2.6%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DA404-A90D-4DA3-8548-79F4ABEC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62325"/>
            <a:ext cx="860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D11C93-B8DC-4999-8859-6405AC37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385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2308.TW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7063E9-5BE0-45A5-B65E-D9446BC4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385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Delta Electronics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7DA3B5-B600-4A3E-B81A-7D4E5341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38525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+Volatility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D043B2-8530-4E19-9A58-9D22BC5F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385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PCA_LogReg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B51D85-6513-49C9-8F5A-F709CAD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49.9%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63136E-C135-4794-B8BD-9485012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385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+184.1%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911D05-A2A1-42BC-9D72-B0355B6B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385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+195.6%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B2A31A-64C3-4B41-8453-8150874C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4385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-11.5%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52437A-665F-4C31-B5A4-B21291BD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00475"/>
            <a:ext cx="860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7561B3-5CAC-48B1-92FE-728FED43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766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2317.TW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7BB101-6D05-4B4B-A448-B505C3D7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766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Hon Hai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FDA2CA4-911B-4A1E-99E6-B00A7EA0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76675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Base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84646A-48C1-4C46-B698-BE460D82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8766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LogisticRegression_Ridge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749BEC-FF8B-4AF5-998A-77C26AD6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8766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55.2%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C2D24C-2417-4A79-8A5A-23B9D1AD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766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+95.8%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EABFAC-65E7-41E9-B8C2-73025980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766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+34.9%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F40C17-6399-4B2D-9D73-AB03AD1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766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+60.9%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630065-5A26-4CBB-BCE9-D6E26E06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38625"/>
            <a:ext cx="860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6A6B0D-5319-4837-9FDD-D1844022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148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2330.TW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1546A9B-6D02-4601-AFA6-D07C0E92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148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TSMC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43EE62-B9F1-40BC-B02C-59E8AE1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14825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+Volatility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C29717-A6F5-4C53-8E40-6C3A6A2F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1482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RandomForest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6F305D-D987-42B9-8427-E2D4865D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31482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49.9%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92C562-F5CD-4147-A9B3-AD45ACEE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3148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+95.7%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6818A1-820F-4C17-A0FD-A519A1FA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3148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+82.9%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BE0738-B002-4DAC-91F2-E1B98705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148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+12.8%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BD67D6-8187-4935-B84E-EA9D5518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76775"/>
            <a:ext cx="86010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D2DBEB-B3B9-4E30-BBC5-A29F0E8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529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2454.TW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45752E-A14F-4FA2-BCA4-F9DC8842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529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MediaTek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A1A79E-F65E-4D84-A988-B02BB727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52975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+Volatility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98A0A4-6B02-4B58-9B4E-12BFF663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52975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PCA_LogReg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A6913C0-EB17-4922-B8F9-80822186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752975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53.4%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54C788D-11BE-4BA4-AF25-325F503E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7529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+21.7%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1A4AA0-2989-42A7-8C80-AD9F26FA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7529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+14.7%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BA4680-5A9A-42BE-8406-126423AD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529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+7.1%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C7828F-9C91-4A79-8A9B-51C159AF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00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Suggested report cases: 0050 for success, 006208 for stable ETF behavior, 2308 for failure vs Buy &amp; Hold, and 2317 for event-driven stock behavior.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FC2D0A5-30AC-4F62-828D-AC911E18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340E7D-2374-4A37-8F30-91FDAF78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59130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1208D-33ED-45E0-B9FA-19762285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EF622-4311-4098-99C3-05748C3E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6CB13-0350-4F39-9569-A1F0965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CASE 1 ? 0050.TW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3204D-4981-4CBA-80C9-63A0D300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5-day + volatility features is the strongest success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C4166-F4F1-42FE-845A-4ACD71F4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0050 is a broad-market ETF. The 5-day target captures trend better, while volatility features help describe risk regime and rebound conditions.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254F-B9AE-422B-A205-5A07E36D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DEB68-7F3B-4055-BB18-B936164E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647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Best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BB32C-53B6-41F9-8A7A-761F5673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5D Confirm / +Volatility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E917B-7828-4FD4-860E-6EE196C4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41CA6-DA14-45A5-B57D-A1C1B32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43125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8FBAE-7C9B-4EFA-94E4-F645C2A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7647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69C62-4938-41B6-AC56-C6C6111D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860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56.1%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95EF9-0AA8-4F4B-B10B-ED17D69D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9082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F1 65.4%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6C355-6ECE-4636-8C40-4DEC38A8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43125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334AE-0C67-4974-AA30-85427B42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7647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Strategy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F6308-3E16-46B2-92B0-761CD77F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4860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+109.6%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E5AD2-CFAC-4E24-8394-9838EBA3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9082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B&amp;H +53.3%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479E2-2B01-4502-9FDC-166C4E2A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632426-FDB9-4ABF-A91E-93B9CCEC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276475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Excess 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685EF-92B3-49AD-823B-C72CC8E7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+56.4%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2DD4E-6E29-4F24-9154-56CC8B00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79082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Sharpe 1.35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650415-B083-4F70-9838-ADFC9315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0050 success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ACB4D-7B5D-4363-AB0A-D3FEE4E0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B19BA-2F4B-4BCC-A2EC-1AB3E165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3855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036650-2A14-44A3-A44E-520A689A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004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+109.6%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4818F-2C0E-4B87-9FD4-B66754ED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000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D18505-D20C-49D5-A749-8A76369E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0000"/>
            <a:ext cx="2105761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3D9DB3-AAC8-4B45-BE00-E854FEB1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719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+53.3%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670D0-FD5F-4154-A200-F027AC3D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3238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6F434D-085B-4E87-A7E1-CDA3B1E8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277824-4A43-4C4C-B349-FFB805F3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67125"/>
            <a:ext cx="29337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Talking point: the win is not just higher accuracy. The model gives more aggressive exposure during broad-market trend periods.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D10D7C-B99E-4B4C-9227-498CCFD6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E93F1-ED3E-489F-B006-A560501A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6FAB81-DB3F-4F2E-8939-EB20E56A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95875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Risk caveat: max drawdown is -36.6%. Higher return comes with higher exposure.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F01A5B-7592-45B6-9EAE-3511DFAC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3E69A3-5805-4582-A8EA-9474890D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5507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C6687-C5CB-4438-8EF6-B5E3A6F3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FF81D-6393-42AA-B4FA-959E9CCE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6F18F-B19C-4546-B026-188F35EA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CASE 2 ? 006208.TW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69469-DB55-47F7-8223-51BF0662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 stable ETF does not always benefit from added complexity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3F392-F6E8-4BD2-9856-C79A9AC6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006208 is similar to 0050, but its best version is the simple 1-day base setting. Volatility and 5-day confirmation did not add more edge here.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D239C-65E3-4AD3-9300-173461D3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65EE3-5215-4E13-8592-798E1AD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Best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8FB66-B7E7-42CE-A12E-C6A6691C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1D /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AE16B-CC31-44F9-8950-4B1FC2EC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LogisticRegression_Ridge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E6FAD-4084-428E-AD08-9306BD2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42329-A33B-446D-A1F1-4151E1D2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36995-A532-4CAF-A366-12BC8F3E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52.2%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8FCA1-1271-44B8-AABA-EEF53AE5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F1 53.1%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B3779-EDCE-4935-8903-B669F13B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9A6A9-4851-413D-B931-1E0898D1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Strategy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A3A94-CAD9-4967-9AEA-8546548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+57.0%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22FA9-9A78-4CCC-9D72-69B43952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B&amp;H +54.4%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A042A-6069-47AC-93E4-4F89D167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1F9B3-1626-4716-9A9F-ACBD8F76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Excess 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15051-563D-4AF7-AE8B-2C19D0A0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+2.6%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4DD6A-7A3B-458F-9D60-9A3CD7FB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Small positive edge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75D4F-6DAA-4317-BD2B-129512E6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006208 stable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8FDC11-7911-4443-99D5-7A01EE19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0AA868-55F4-43D0-9D26-34AC6B90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80C5A-488B-47D3-AAD3-B0C1DF9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957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+57.0%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7F26D9-8B3B-429D-A0C8-B4AA76F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41EF0-8FE1-4361-B13A-72A05B69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4133792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F353D-9784-4CE9-8F80-102F03E1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+54.4%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C1AD2A-857C-4076-B2F5-334943DD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A39FDA-0DDC-4814-BAF7-3C511D06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3BBF0C-12D1-4B72-8AD8-0C09D88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10000"/>
            <a:ext cx="2933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Talking point: for stable ETFs, the model can be useful as an explainable signal framework even when excess return is limited.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99A3A8-A763-4B84-8736-4DACD2AE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9379E-84DD-424E-AA0C-79EF9871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720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C188EF-F51E-4C86-8195-A6D65651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14925"/>
            <a:ext cx="293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Report role: a balanced case that prevents us from only showing the prettiest result.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3271FE-392A-4D1C-87F8-288180B1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2EEA46-5AD8-495D-B343-DB6992CB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59746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66EA0D-89D7-4697-915C-8F5DF42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C572E-38DE-4F27-91FB-8FC10A16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9F290-C48A-4E0B-BD0A-1828E283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CASE 3 ? 2308.TW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8195A-E92A-42A3-AB23-8E5CF51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 strong trend stock is the key failure case: the strategy earns money but loses to Buy &amp;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E836D-24CA-434D-9650-5A47F4C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Delta Electronics had a very strong test-period trend. Any timing rule that exits or shorts can become a drag.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BF8EC-9FAB-46EF-B87E-632BD2C3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16BD9-BE4D-4D83-BABD-24CCF03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Best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F35B0-6A0E-4202-8DDC-D60BCFF1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1D / +Volatility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27C25-F4DC-4FB7-84CD-2BE7F15E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PCA_LogReg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717ED-2DF6-4989-B7FF-66B992D4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AD852-F529-49A3-AEF4-3135AF5D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59F43-03D5-48E3-A419-33259C7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49.9%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0B3554-A6F5-4701-BD57-6D742AE7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F1 51.4%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BAB71-4008-43C2-AAF4-2010607C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8ECEB-4831-4C1B-AA1B-FCB4FD4D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Strategy return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27315-18F1-474E-86D3-604AA098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+184.1%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579F7-ABA5-4F28-9D2C-8DE0B4FB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B&amp;H +195.6%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EB8E1E-9FFE-43E2-BFD0-ACB44D17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907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1EAE6-05B3-416F-B85E-8A5BDC25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3241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57084"/>
                </a:solidFill>
                <a:latin typeface="Aptos"/>
                <a:ea typeface="Aptos"/>
                <a:cs typeface="Aptos"/>
              </a:rPr>
              <a:t>Excess 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F4A48-A5F1-451B-B615-07BE87DE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5336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-11.5%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32C77-D6AD-4249-8269-E4030AE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Lost to holding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1B52E-BA1B-4444-BEA4-D93106A6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2308 failure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8C1F6-241B-47E0-83C3-7A3EA60F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B6DE1-D383-46D9-ADFB-365832C5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4078574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BDCA0-A39C-43AD-AA73-8E5FAAFB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69570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+184.1%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7A2E2-71D1-4FA3-8018-365F762D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60FF9-FF6D-4CFD-8771-595B1A3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4333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899D6-3D55-4B65-82AF-AC8E2E1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72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+195.6%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BF80FB-FDF1-426A-AC31-AA02203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1B5ED-0B9B-4C4B-A7C5-028E7E23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7B83F-87E2-45B2-B92D-A800685B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62375"/>
            <a:ext cx="2933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Talking point: a positive strategy return is not enough. If Buy &amp; Hold is stronger, timing did not create real investment value.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77EC0-13FD-401B-A48C-D2FDFEDB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323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8FBD51-9833-48C9-8E49-E5796F2D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6730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87E1C9-2610-447B-8353-677599F3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0175"/>
            <a:ext cx="2933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Lesson: strong-trend stocks require a higher bar for proving timing value.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AB8E3A-5BA3-4D48-81AF-BDC73657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B5A323-E9FC-4888-9864-54FEF911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25230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7D4261-7D82-4D7B-90DC-CE348CC8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2D690-EE43-450B-A1EB-10B4018A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CE2CA-B9FA-4676-A80B-15C23D6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METRIC LESSON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4262-6262-45B1-A403-C6AED3DD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Higher accuracy does not guarantee a winning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438FD-5F52-4075-BCF5-41538B75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Classification metrics answer whether the model predicts direction. Backtest metrics answer whether using those predictions creates trading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1CC77-D1BF-4BB5-BBB1-950DC9EA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21CA5-B1B7-44DB-A255-6558AA7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76475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C1D28-AC85-483B-BD9D-7498FA3F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76475"/>
            <a:ext cx="1343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D8709-F212-462E-BCBB-071919FD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76475"/>
            <a:ext cx="1485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87363-E3F7-442D-BFA3-FEEC325A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76475"/>
            <a:ext cx="5810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0FAE0-4983-4AA5-B4D8-D310D4EA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76475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E89C2-0BDB-4702-8032-426B653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76475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B&amp;H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D8750-4914-4ECC-B394-770FE99C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76475"/>
            <a:ext cx="771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E1D47-2DF8-461E-9364-0008D0A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962B6-4FA1-44A4-96B5-531515CA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0050.TW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0D2B0-76EB-4D38-8FA2-5CD677A8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9080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E0123-AE0C-4E61-8BED-27C3B53E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908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LogisticRegression_Ridge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4A11F-0ABC-4189-94CC-F1611CBD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9080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52.9%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65F79-FB12-48E9-9896-6725A54C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908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+33.2%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ABB05-BCA4-4517-AE3C-3AB342BA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908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+56.5%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CFB68-2918-4AB8-B57E-9AEC7EF9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908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-23.3%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931A48-68EC-41FE-A9E6-73A91446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ABE8B-7ECA-4CD0-81D4-188A4714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527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0050.TW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916EE5-FD0A-4A28-9BE7-E52BDAFE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5275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+Volatility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DDABC-B038-4C0C-8A81-B806D940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527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LogisticRegression_Ridge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84F2A6-3A3C-473C-BCDE-5448D3C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527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51.0%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7A0681-3EB1-4249-8896-E0CF432F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+26.0%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2720DA-EB4E-456D-ADE2-4AD100FB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+56.5%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20B82-313A-4DB6-9F74-797362E9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527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-30.5%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CF47DF-279D-4A21-89B9-008D288D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F98EEA-F8FC-4552-958A-9A16E3DD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147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0050.TW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46298-372E-4B88-A7EE-1794F4B5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1470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+Volatility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465802-7443-4798-84BA-7BA37B7F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147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XGBoost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51AE7-93FA-410A-8823-FEC73CC0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1470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56.1%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E37B36-44CB-4C90-B7A9-F4E7023B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147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+109.6%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C6E1AD-2D5D-40D7-9985-8B1EBD8C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3147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+53.3%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6691A0-D6E4-45D4-911C-0B184EC2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147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+56.4%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2E1F36-4040-4F3C-9E50-C8F05BD3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AF2DCE-F619-4CDE-AB69-536945A3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2454.TW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F6022A-FC52-40D9-BA7C-CE33A4CF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7665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Base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6D1542-55A7-48DC-B8AA-16FF94AE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766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PCA_LogReg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621C12-4B48-4FE0-914D-D336EA06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766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56.4%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F161B2-621D-4736-AB5A-181089EA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766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-15.0%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63C956-1253-452E-BD21-C7CFA74A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+19.0%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9AD694-81C0-4A3E-8D30-82326A6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766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-34.0%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71D4FA-F9EB-4EEF-828C-4A8BE555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8C66F3-6762-40A4-B395-86B46C71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386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2454.TW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8D4ACC-D06D-4AA6-9458-337BB0B9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+Volatility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B240A4-40E5-4E4F-89BD-165FE572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0386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PCA_LogReg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7EDD09-B9C4-49F2-98E6-C3799784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3860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57.7%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6B7628-496E-459C-8F2B-5FDBAEE5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386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-21.1%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44DAFF-6E61-4792-B0F0-C96B8A7B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386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+19.0%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D08840-2D67-46F6-B277-E995A08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-40.1%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3F8FA7-2670-4B97-B532-6676C659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CCA81D-F11E-4965-BCFC-D8384088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005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2454.TW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BF24D2E-DE91-429E-B338-4F247C90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5D Confirm / +Volatility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A18AAE-0CAE-4970-AAEC-E6F8B361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005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PCA_LogReg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3646E0-88E1-487E-B003-6F815D2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005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53.4%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BA13B3-A01B-42CA-9A08-5AFCD519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005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+21.7%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D53189-76C3-4E5E-9016-65D984B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005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+14.7%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E0C16C-9018-435C-9A13-FA9A9FFB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+7.1%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E968D2-E146-4075-8315-BA7070C5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863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6949DC-A150-4B09-AA63-828BA45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625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2308.TW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316EC0-6DC1-481E-AE21-9C2DA108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1D / Base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CDA399-4DD5-4482-BE4B-432737F1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625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PCA_LogReg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1F7F63-31CA-4FB3-9B08-3208CBFD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6250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50.9%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B1F289-0EDD-4171-83C7-E1D074BC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7625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+162.3%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5DCAC9-AF0C-40CD-AD3D-DC46C296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625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+195.6%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2B0D852-A704-420A-9D14-082B608F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625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-33.3%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1613A4A-4490-44A1-9788-F0DF54FF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72F8D0-C7FA-4F62-A376-47690009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50E7713-31EC-474C-BDB5-E633DCF3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28875"/>
            <a:ext cx="30765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MediaTek 1-day models have accuracy around 56-57%, but the strategy still loses money. Correct small calls can be overwhelmed by a few large wrong calls.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FEF6BE-FA45-4ADB-854C-21EFE45A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381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4EB2FB4-4BD9-4D5F-987F-D7E5002C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2D5660-300E-4750-BE1F-3939914E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86175"/>
            <a:ext cx="30765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0050 5-day + volatility is not the highest-accuracy model, but it wins because exposure is aligned with large trend periods.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124830-D743-4639-A773-906961D5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3381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743FB02-A28F-4863-9853-454B0CFA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B6D365-F312-472F-96C4-FF7187D7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53000"/>
            <a:ext cx="3076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Therefore the report should show Accuracy, F1, return, max drawdown, and Sharpe together.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8DF003-04A6-4D08-9737-FC2A50E7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C48EA5-09DC-4BF9-A857-B65DEEEC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46701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7926E-920B-4508-A4DE-4CAC04CB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5DBEB-F541-49CB-9C0D-B8ACFC43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A616F-08AC-46C7-AEF2-55F7620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REPORT STORYLINE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50DD2-AB92-4DAA-8F44-EE1B3284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a method-improvement narrative, not just a leaderboard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57ED6-8CBD-4CD4-A6FD-9534A276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A strong final presentation should explain why the design changed, when it worked, when it failed, and what we learned.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C2C82-E512-455B-9450-CD415F35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1D311-03C7-4191-9ACC-ADF37F9C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9B3B3-CD80-4C18-8D4E-6D1EBAAF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288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E83B2-14A8-49AC-A279-F8D3C703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Next-day direction is noisy; accuracy stays around 51-52%.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0529E-4273-48FF-B275-A774A3DA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8CE1E-2EBA-42DD-97C5-D75BF6A8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294D6-A23C-4DC5-93C8-CB0977DA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7177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DE000-A002-4616-9CB9-B2C68F36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90825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a 5-day target, two-day confirmation, and optional volatility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D8697-17AC-4338-BCAF-78E53698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FD723-1DE8-455D-B551-54824EA5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5507B-2DCF-40CF-9A97-957E64F3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147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5EAC2-7F7C-494E-8419-5DBB59C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33775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5-day settings improve F1; 5D + volatility beats Buy &amp; Hold in 4 of 6 tickers.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FF3FA5-69E8-4A21-8C71-B1B4E8FD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B464D-3AE4-4C13-9E92-A5C4C05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40BC0-1B0E-4063-A2DA-BF24B0B5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5767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FF95B-C939-4BED-B270-8D92E49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76725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0050 success, 006208 stable ETF, 2308 failure, 2317 event-driven stock.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B5AE67-517D-4753-9EC1-2F1084DE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463A5-9D5E-48D9-B46F-AB24B08B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56CDD-CF1E-46DB-94FF-1FDC2B15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1381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Reflection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C6B1A9-C82B-44D7-8532-BF1D18DC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19675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Strategy return is not model accuracy; risk, leverage, and ticker trend matter.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2CF73-7352-400B-841B-07BB504C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D4935-5CDE-410D-ACBC-7F24199F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430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5D is more learnable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57B2D2-AB7E-4B96-A31E-3BB94022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C5BB9B-365E-41A2-90BD-4886E20E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240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Not universally better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E0BE44-7B18-4E41-B935-00C21C8C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FA2AF5-0E86-4E78-9C5C-DE8D895F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57166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EB2E0-6358-4A68-88B2-50C2008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BDBA9-DF94-4D12-B254-129E5431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7E372-415F-42C1-8A5C-EB6BA268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0D0C7-BEAA-4139-AA03-16FCECFF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914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Source, limits, and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434DF-56AC-482D-84AB-5B368E20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084"/>
                </a:solidFill>
                <a:latin typeface="Aptos"/>
                <a:ea typeface="Aptos"/>
                <a:cs typeface="Aptos"/>
              </a:rPr>
              <a:t>Use this as a backup slide for questions about data and methodology.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80F71-4C5C-4E97-8746-888A6156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477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9B4DD-30B7-449B-BD63-D4477B0C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76475"/>
            <a:ext cx="1247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E6A35-5F2A-417B-AA6C-EE49D449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76475"/>
            <a:ext cx="796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0E6F-BD99-4EE7-855E-E2FE311B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947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16234-C4CE-4A5F-83BF-7D9BD153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28900"/>
            <a:ext cx="1247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84983-D006-4F00-92D1-3C2EE718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28900"/>
            <a:ext cx="796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Yahoo Finance / yfinance OHLCV. No news or institutional-flow data included.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0C084-5E27-40C3-A72A-9585D002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947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573EA-3555-4468-B010-B69F1DAF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19450"/>
            <a:ext cx="1247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A1C87-F684-4E8C-B22A-7885E47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19450"/>
            <a:ext cx="796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technical indicators plus optional ATR, 20-day volatility, volume ratio, and Bollinger width.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1E4E8-33EA-40F5-9276-68BA67BD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947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7E166-1B04-4EA7-9868-D220D32B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10000"/>
            <a:ext cx="1247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Split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DD091-E78C-4064-ABE5-5C2F8E49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10000"/>
            <a:ext cx="796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Chronological train / validation / test. Validation selects model and threshold; test is final report.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C4A7F-ABFB-429E-8B41-4D3EDC5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947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50196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29E2B-1DA2-4633-A789-40C7A771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00550"/>
            <a:ext cx="1247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0973FC-8672-406F-ACCE-DC3AAAE6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00550"/>
            <a:ext cx="796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Single split, simplified trading cost, dynamic leverage can amplify drawdown, no significance test yet.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FA6375-90DF-4A35-940E-708301AE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9477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1"/>
            </a:srgbClr>
          </a:solidFill>
          <a:ln xmlns:a="http://schemas.openxmlformats.org/drawingml/2006/main" w="6668">
            <a:solidFill>
              <a:srgbClr val="E5DE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BFE41-AD96-4155-9AA7-A844D9C0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91100"/>
            <a:ext cx="1247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1FB2E-BF6F-4B0E-9D3D-C649037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91100"/>
            <a:ext cx="796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Walk-forward validation, better leverage/no-position rules, market/sector factors, and risk controls.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0621E-60C8-4A8A-9B0F-124090B3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9477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9525">
            <a:solidFill>
              <a:srgbClr val="E1DB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A1ACF-36EC-464D-BFB4-EE0E5B66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4C7F31-FA10-41F5-9DCB-9D5B7F6B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9172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Closing line: the project did not find a magic model; it learned how prediction target, trading rule, and risk metrics must be evaluated together.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7008D-80D9-4BD2-A5D2-722D5F4A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results/report_experiments CSV ? 2018/01/01?2026/01/01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58A79B-9F51-49E3-9075-EF37CA14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A817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81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16662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2026-06-07T06:34:04.4060000Z</dcterms:created>
  <dcterms:modified xsi:type="dcterms:W3CDTF">2026-06-07T06:34:04.4060000Z</dcterms:modified>
</coreProperties>
</file>