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036EB03-54D6-4704-9A8C-9E23845FAB7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25FB0-72FA-8D03-B802-05C913C9EBF2}" v="55" dt="2026-06-11T10:07:31.206"/>
    <p1510:client id="{8D3E148C-046D-A784-ABC5-3E8DE9429E56}" v="62" dt="2026-06-09T11:49:57.338"/>
    <p1510:client id="{D0912F42-F280-197F-8A41-5939465DE074}" v="22" dt="2026-06-11T06:11:47.957"/>
    <p1510:client id="{E8E44E2A-099B-A77D-5B53-2F627B740F37}" v="35" dt="2026-06-11T09:34:57.315"/>
    <p1510:client id="{F91F4880-82ED-CCBD-F0DD-AA859D5E77A7}" v="99" dt="2026-06-10T15:10:13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zh-TW" altLang="en-US">
              <a:solidFill>
                <a:srgbClr val="CCCCCC"/>
              </a:solidFill>
              <a:highlight>
                <a:srgbClr val="10101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000000"/>
                </a:solidFill>
              </a:rPr>
              <a:t>1.</a:t>
            </a:r>
            <a:r>
              <a:rPr lang="zh-TW" altLang="en-US">
                <a:solidFill>
                  <a:srgbClr val="000000"/>
                </a:solidFill>
              </a:rPr>
              <a:t> 價格與趨勢指標</a:t>
            </a:r>
            <a:endParaRPr lang="zh-TW" altLang="en-US"/>
          </a:p>
          <a:p>
            <a:r>
              <a:rPr lang="en-US" altLang="zh-TW">
                <a:solidFill>
                  <a:srgbClr val="000000"/>
                </a:solidFill>
              </a:rPr>
              <a:t>return_1d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</a:t>
            </a:r>
            <a:r>
              <a:rPr lang="zh-TW" altLang="en-US">
                <a:solidFill>
                  <a:srgbClr val="000000"/>
                </a:solidFill>
              </a:rPr>
              <a:t>單日報酬率</a:t>
            </a:r>
            <a:r>
              <a:rPr lang="en-US" altLang="zh-TW">
                <a:solidFill>
                  <a:srgbClr val="000000"/>
                </a:solidFill>
              </a:rPr>
              <a:t>)</a:t>
            </a:r>
            <a:r>
              <a:rPr lang="zh-TW" altLang="en-US">
                <a:solidFill>
                  <a:srgbClr val="000000"/>
                </a:solidFill>
              </a:rPr>
              <a:t>：今天的收盤價相較於昨天收盤價的漲跌幅。</a:t>
            </a:r>
            <a:endParaRPr lang="zh-TW" altLang="en-US"/>
          </a:p>
          <a:p>
            <a:r>
              <a:rPr lang="en-US" altLang="zh-TW">
                <a:solidFill>
                  <a:srgbClr val="000000"/>
                </a:solidFill>
              </a:rPr>
              <a:t>ma_5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(5</a:t>
            </a:r>
            <a:r>
              <a:rPr lang="zh-TW" altLang="en-US">
                <a:solidFill>
                  <a:srgbClr val="000000"/>
                </a:solidFill>
              </a:rPr>
              <a:t> 日移動平均線</a:t>
            </a:r>
            <a:r>
              <a:rPr lang="en-US" altLang="zh-TW">
                <a:solidFill>
                  <a:srgbClr val="000000"/>
                </a:solidFill>
              </a:rPr>
              <a:t>)</a:t>
            </a:r>
            <a:r>
              <a:rPr lang="zh-TW" altLang="en-US">
                <a:solidFill>
                  <a:srgbClr val="000000"/>
                </a:solidFill>
              </a:rPr>
              <a:t>：過去 </a:t>
            </a:r>
            <a:r>
              <a:rPr lang="en-US" altLang="zh-TW">
                <a:solidFill>
                  <a:srgbClr val="000000"/>
                </a:solidFill>
              </a:rPr>
              <a:t>5</a:t>
            </a:r>
            <a:r>
              <a:rPr lang="zh-TW" altLang="en-US">
                <a:solidFill>
                  <a:srgbClr val="000000"/>
                </a:solidFill>
              </a:rPr>
              <a:t> 天收盤價的平均值（短期趨勢）。</a:t>
            </a:r>
            <a:endParaRPr lang="zh-TW" altLang="en-US"/>
          </a:p>
          <a:p>
            <a:r>
              <a:rPr lang="en-US" altLang="zh-TW">
                <a:solidFill>
                  <a:srgbClr val="000000"/>
                </a:solidFill>
              </a:rPr>
              <a:t>ma_20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(20</a:t>
            </a:r>
            <a:r>
              <a:rPr lang="zh-TW" altLang="en-US">
                <a:solidFill>
                  <a:srgbClr val="000000"/>
                </a:solidFill>
              </a:rPr>
              <a:t> 日移動平均線</a:t>
            </a:r>
            <a:r>
              <a:rPr lang="en-US" altLang="zh-TW">
                <a:solidFill>
                  <a:srgbClr val="000000"/>
                </a:solidFill>
              </a:rPr>
              <a:t>)</a:t>
            </a:r>
            <a:r>
              <a:rPr lang="zh-TW" altLang="en-US">
                <a:solidFill>
                  <a:srgbClr val="000000"/>
                </a:solidFill>
              </a:rPr>
              <a:t>：過去 </a:t>
            </a:r>
            <a:r>
              <a:rPr lang="en-US" altLang="zh-TW">
                <a:solidFill>
                  <a:srgbClr val="000000"/>
                </a:solidFill>
              </a:rPr>
              <a:t>20</a:t>
            </a:r>
            <a:r>
              <a:rPr lang="zh-TW" altLang="en-US">
                <a:solidFill>
                  <a:srgbClr val="000000"/>
                </a:solidFill>
              </a:rPr>
              <a:t> 天收盤價的平均值（中期趨勢）。</a:t>
            </a:r>
            <a:endParaRPr lang="zh-TW" altLang="en-US"/>
          </a:p>
          <a:p>
            <a:r>
              <a:rPr lang="en-US" altLang="zh-TW" err="1">
                <a:solidFill>
                  <a:srgbClr val="000000"/>
                </a:solidFill>
              </a:rPr>
              <a:t>ma_ratio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</a:t>
            </a:r>
            <a:r>
              <a:rPr lang="zh-TW" altLang="en-US">
                <a:solidFill>
                  <a:srgbClr val="000000"/>
                </a:solidFill>
              </a:rPr>
              <a:t>均線比值</a:t>
            </a:r>
            <a:r>
              <a:rPr lang="en-US" altLang="zh-TW">
                <a:solidFill>
                  <a:srgbClr val="000000"/>
                </a:solidFill>
              </a:rPr>
              <a:t>)</a:t>
            </a:r>
            <a:r>
              <a:rPr lang="zh-TW" altLang="en-US">
                <a:solidFill>
                  <a:srgbClr val="000000"/>
                </a:solidFill>
              </a:rPr>
              <a:t>：計算公式為 </a:t>
            </a:r>
            <a:r>
              <a:rPr lang="en-US" altLang="zh-TW">
                <a:solidFill>
                  <a:srgbClr val="000000"/>
                </a:solidFill>
              </a:rPr>
              <a:t>ma_5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/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ma_20</a:t>
            </a:r>
            <a:r>
              <a:rPr lang="zh-TW" altLang="en-US">
                <a:solidFill>
                  <a:srgbClr val="000000"/>
                </a:solidFill>
              </a:rPr>
              <a:t>。這個指標用來衡量「短期均線」相對「中期均線」的位置，可以幫助模型判斷目前是多頭排列還是空頭排列。</a:t>
            </a:r>
            <a:endParaRPr lang="zh-TW" altLang="en-US"/>
          </a:p>
          <a:p>
            <a:r>
              <a:rPr lang="en-US" altLang="zh-TW">
                <a:solidFill>
                  <a:srgbClr val="000000"/>
                </a:solidFill>
              </a:rPr>
              <a:t>2.</a:t>
            </a:r>
            <a:r>
              <a:rPr lang="zh-TW" altLang="en-US">
                <a:solidFill>
                  <a:srgbClr val="000000"/>
                </a:solidFill>
              </a:rPr>
              <a:t> 乖離率指標 </a:t>
            </a:r>
            <a:r>
              <a:rPr lang="en-US" altLang="zh-TW">
                <a:solidFill>
                  <a:srgbClr val="000000"/>
                </a:solidFill>
              </a:rPr>
              <a:t>(Bias)</a:t>
            </a:r>
            <a:endParaRPr lang="zh-TW" altLang="en-US"/>
          </a:p>
          <a:p>
            <a:r>
              <a:rPr lang="en-US" altLang="zh-TW">
                <a:solidFill>
                  <a:srgbClr val="000000"/>
                </a:solidFill>
              </a:rPr>
              <a:t>bias_5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(5</a:t>
            </a:r>
            <a:r>
              <a:rPr lang="zh-TW" altLang="en-US">
                <a:solidFill>
                  <a:srgbClr val="000000"/>
                </a:solidFill>
              </a:rPr>
              <a:t> 日乖離率</a:t>
            </a:r>
            <a:r>
              <a:rPr lang="en-US" altLang="zh-TW">
                <a:solidFill>
                  <a:srgbClr val="000000"/>
                </a:solidFill>
              </a:rPr>
              <a:t>)</a:t>
            </a:r>
            <a:r>
              <a:rPr lang="zh-TW" altLang="en-US">
                <a:solidFill>
                  <a:srgbClr val="000000"/>
                </a:solidFill>
              </a:rPr>
              <a:t>：今天收盤價相對於 </a:t>
            </a:r>
            <a:r>
              <a:rPr lang="en-US" altLang="zh-TW">
                <a:solidFill>
                  <a:srgbClr val="000000"/>
                </a:solidFill>
              </a:rPr>
              <a:t>5</a:t>
            </a:r>
            <a:r>
              <a:rPr lang="zh-TW" altLang="en-US">
                <a:solidFill>
                  <a:srgbClr val="000000"/>
                </a:solidFill>
              </a:rPr>
              <a:t> 日均線的距離（差距百分比）。</a:t>
            </a:r>
            <a:endParaRPr lang="zh-TW" altLang="en-US"/>
          </a:p>
          <a:p>
            <a:r>
              <a:rPr lang="en-US" altLang="zh-TW">
                <a:solidFill>
                  <a:srgbClr val="000000"/>
                </a:solidFill>
              </a:rPr>
              <a:t>bias_20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(20</a:t>
            </a:r>
            <a:r>
              <a:rPr lang="zh-TW" altLang="en-US">
                <a:solidFill>
                  <a:srgbClr val="000000"/>
                </a:solidFill>
              </a:rPr>
              <a:t> 日乖離率</a:t>
            </a:r>
            <a:r>
              <a:rPr lang="en-US" altLang="zh-TW">
                <a:solidFill>
                  <a:srgbClr val="000000"/>
                </a:solidFill>
              </a:rPr>
              <a:t>)</a:t>
            </a:r>
            <a:r>
              <a:rPr lang="zh-TW" altLang="en-US">
                <a:solidFill>
                  <a:srgbClr val="000000"/>
                </a:solidFill>
              </a:rPr>
              <a:t>：今天收盤價相對於 </a:t>
            </a:r>
            <a:r>
              <a:rPr lang="en-US" altLang="zh-TW">
                <a:solidFill>
                  <a:srgbClr val="000000"/>
                </a:solidFill>
              </a:rPr>
              <a:t>20</a:t>
            </a:r>
            <a:r>
              <a:rPr lang="zh-TW" altLang="en-US">
                <a:solidFill>
                  <a:srgbClr val="000000"/>
                </a:solidFill>
              </a:rPr>
              <a:t> 日均線的距離。</a:t>
            </a:r>
            <a:endParaRPr lang="zh-TW" altLang="en-US"/>
          </a:p>
          <a:p>
            <a:r>
              <a:rPr lang="zh-TW" altLang="en-US">
                <a:solidFill>
                  <a:srgbClr val="000000"/>
                </a:solidFill>
              </a:rPr>
              <a:t>說明：乖離率主要讓模型學習股價是不是「漲太多了（正乖離過大，可能面臨拉回）」或是「跌過頭了（負乖離過大，可能反彈）」。</a:t>
            </a:r>
            <a:endParaRPr lang="zh-TW" altLang="en-US"/>
          </a:p>
          <a:p>
            <a:r>
              <a:rPr lang="en-US" altLang="zh-TW">
                <a:solidFill>
                  <a:srgbClr val="000000"/>
                </a:solidFill>
              </a:rPr>
              <a:t>3.</a:t>
            </a:r>
            <a:r>
              <a:rPr lang="zh-TW" altLang="en-US">
                <a:solidFill>
                  <a:srgbClr val="000000"/>
                </a:solidFill>
              </a:rPr>
              <a:t> 動能與相對強弱指標</a:t>
            </a:r>
            <a:endParaRPr lang="zh-TW" altLang="en-US"/>
          </a:p>
          <a:p>
            <a:r>
              <a:rPr lang="en-US" altLang="zh-TW" err="1">
                <a:solidFill>
                  <a:srgbClr val="000000"/>
                </a:solidFill>
              </a:rPr>
              <a:t>vol_chg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</a:t>
            </a:r>
            <a:r>
              <a:rPr lang="zh-TW" altLang="en-US">
                <a:solidFill>
                  <a:srgbClr val="000000"/>
                </a:solidFill>
              </a:rPr>
              <a:t>成交量變化率</a:t>
            </a:r>
            <a:r>
              <a:rPr lang="en-US" altLang="zh-TW">
                <a:solidFill>
                  <a:srgbClr val="000000"/>
                </a:solidFill>
              </a:rPr>
              <a:t>)</a:t>
            </a:r>
            <a:r>
              <a:rPr lang="zh-TW" altLang="en-US">
                <a:solidFill>
                  <a:srgbClr val="000000"/>
                </a:solidFill>
              </a:rPr>
              <a:t>：今天的成交量相較於昨天成交量的增減比例。用來判斷上漲或下跌是否有「帶量」。</a:t>
            </a:r>
            <a:endParaRPr lang="zh-TW" altLang="en-US"/>
          </a:p>
          <a:p>
            <a:r>
              <a:rPr lang="en-US" altLang="zh-TW">
                <a:solidFill>
                  <a:srgbClr val="000000"/>
                </a:solidFill>
              </a:rPr>
              <a:t>rsi_14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(14</a:t>
            </a:r>
            <a:r>
              <a:rPr lang="zh-TW" altLang="en-US">
                <a:solidFill>
                  <a:srgbClr val="000000"/>
                </a:solidFill>
              </a:rPr>
              <a:t> 日相對強弱指標 </a:t>
            </a:r>
            <a:r>
              <a:rPr lang="en-US" altLang="zh-TW">
                <a:solidFill>
                  <a:srgbClr val="000000"/>
                </a:solidFill>
              </a:rPr>
              <a:t>RSI)</a:t>
            </a:r>
            <a:r>
              <a:rPr lang="zh-TW" altLang="en-US">
                <a:solidFill>
                  <a:srgbClr val="000000"/>
                </a:solidFill>
              </a:rPr>
              <a:t>：經典的技術指標，數值介於 </a:t>
            </a:r>
            <a:r>
              <a:rPr lang="en-US" altLang="zh-TW">
                <a:solidFill>
                  <a:srgbClr val="000000"/>
                </a:solidFill>
              </a:rPr>
              <a:t>0~100</a:t>
            </a:r>
            <a:r>
              <a:rPr lang="zh-TW" altLang="en-US">
                <a:solidFill>
                  <a:srgbClr val="000000"/>
                </a:solidFill>
              </a:rPr>
              <a:t> 之間。用來評估過去 </a:t>
            </a:r>
            <a:r>
              <a:rPr lang="en-US" altLang="zh-TW">
                <a:solidFill>
                  <a:srgbClr val="000000"/>
                </a:solidFill>
              </a:rPr>
              <a:t>14</a:t>
            </a:r>
            <a:r>
              <a:rPr lang="zh-TW" altLang="en-US">
                <a:solidFill>
                  <a:srgbClr val="000000"/>
                </a:solidFill>
              </a:rPr>
              <a:t> 天內買盤與賣盤的力道對比，判斷是否進入「超買」或「超賣」區間。</a:t>
            </a:r>
            <a:endParaRPr lang="zh-TW" altLang="en-US"/>
          </a:p>
          <a:p>
            <a:r>
              <a:rPr lang="en-US" altLang="zh-TW">
                <a:solidFill>
                  <a:srgbClr val="000000"/>
                </a:solidFill>
              </a:rPr>
              <a:t>4.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MACD</a:t>
            </a:r>
            <a:r>
              <a:rPr lang="zh-TW" altLang="en-US">
                <a:solidFill>
                  <a:srgbClr val="000000"/>
                </a:solidFill>
              </a:rPr>
              <a:t> 指標群 </a:t>
            </a:r>
            <a:r>
              <a:rPr lang="en-US" altLang="zh-TW">
                <a:solidFill>
                  <a:srgbClr val="000000"/>
                </a:solidFill>
              </a:rPr>
              <a:t>(</a:t>
            </a:r>
            <a:r>
              <a:rPr lang="zh-TW" altLang="en-US">
                <a:solidFill>
                  <a:srgbClr val="000000"/>
                </a:solidFill>
              </a:rPr>
              <a:t>平滑異同移動平均線</a:t>
            </a:r>
            <a:r>
              <a:rPr lang="en-US" altLang="zh-TW">
                <a:solidFill>
                  <a:srgbClr val="000000"/>
                </a:solidFill>
              </a:rPr>
              <a:t>)</a:t>
            </a:r>
            <a:endParaRPr lang="zh-TW" altLang="en-US"/>
          </a:p>
          <a:p>
            <a:r>
              <a:rPr lang="en-US" altLang="zh-TW">
                <a:solidFill>
                  <a:srgbClr val="000000"/>
                </a:solidFill>
              </a:rPr>
              <a:t>MACD</a:t>
            </a:r>
            <a:r>
              <a:rPr lang="zh-TW" altLang="en-US">
                <a:solidFill>
                  <a:srgbClr val="000000"/>
                </a:solidFill>
              </a:rPr>
              <a:t> 是用來捕捉中長期趨勢反轉的強力指標，專案中使用了它的三個核心元素：</a:t>
            </a:r>
            <a:endParaRPr lang="zh-TW" altLang="en-US"/>
          </a:p>
          <a:p>
            <a:r>
              <a:rPr lang="zh-TW" altLang="en-US">
                <a:solidFill>
                  <a:srgbClr val="000000"/>
                </a:solidFill>
              </a:rPr>
              <a:t> </a:t>
            </a:r>
            <a:endParaRPr lang="zh-TW" altLang="en-US"/>
          </a:p>
          <a:p>
            <a:r>
              <a:rPr lang="en-US" altLang="zh-TW" err="1">
                <a:solidFill>
                  <a:srgbClr val="000000"/>
                </a:solidFill>
              </a:rPr>
              <a:t>macd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</a:t>
            </a:r>
            <a:r>
              <a:rPr lang="zh-TW" altLang="en-US">
                <a:solidFill>
                  <a:srgbClr val="000000"/>
                </a:solidFill>
              </a:rPr>
              <a:t>百分比 </a:t>
            </a:r>
            <a:r>
              <a:rPr lang="en-US" altLang="zh-TW">
                <a:solidFill>
                  <a:srgbClr val="000000"/>
                </a:solidFill>
              </a:rPr>
              <a:t>MACD)</a:t>
            </a:r>
            <a:r>
              <a:rPr lang="zh-TW" altLang="en-US">
                <a:solidFill>
                  <a:srgbClr val="000000"/>
                </a:solidFill>
              </a:rPr>
              <a:t>：快線與慢線的差值（專案中特別轉換為百分比形式，以利於跨時間比較）。</a:t>
            </a:r>
            <a:endParaRPr lang="zh-TW" altLang="en-US"/>
          </a:p>
          <a:p>
            <a:r>
              <a:rPr lang="en-US" altLang="zh-TW" err="1">
                <a:solidFill>
                  <a:srgbClr val="000000"/>
                </a:solidFill>
              </a:rPr>
              <a:t>macd_signal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(MACD</a:t>
            </a:r>
            <a:r>
              <a:rPr lang="zh-TW" altLang="en-US">
                <a:solidFill>
                  <a:srgbClr val="000000"/>
                </a:solidFill>
              </a:rPr>
              <a:t> 訊號線</a:t>
            </a:r>
            <a:r>
              <a:rPr lang="en-US" altLang="zh-TW">
                <a:solidFill>
                  <a:srgbClr val="000000"/>
                </a:solidFill>
              </a:rPr>
              <a:t>)</a:t>
            </a:r>
            <a:r>
              <a:rPr lang="zh-TW" altLang="en-US">
                <a:solidFill>
                  <a:srgbClr val="000000"/>
                </a:solidFill>
              </a:rPr>
              <a:t>：</a:t>
            </a:r>
            <a:r>
              <a:rPr lang="en-US" altLang="zh-TW">
                <a:solidFill>
                  <a:srgbClr val="000000"/>
                </a:solidFill>
              </a:rPr>
              <a:t>MACD</a:t>
            </a:r>
            <a:r>
              <a:rPr lang="zh-TW" altLang="en-US">
                <a:solidFill>
                  <a:srgbClr val="000000"/>
                </a:solidFill>
              </a:rPr>
              <a:t> 的移動平均線，用來產生買賣訊號的基準。</a:t>
            </a:r>
            <a:endParaRPr lang="zh-TW" altLang="en-US"/>
          </a:p>
          <a:p>
            <a:r>
              <a:rPr lang="en-US" altLang="zh-TW" err="1">
                <a:solidFill>
                  <a:srgbClr val="000000"/>
                </a:solidFill>
              </a:rPr>
              <a:t>macd_hist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(MACD</a:t>
            </a:r>
            <a:r>
              <a:rPr lang="zh-TW" altLang="en-US">
                <a:solidFill>
                  <a:srgbClr val="000000"/>
                </a:solidFill>
              </a:rPr>
              <a:t> 柱狀圖</a:t>
            </a:r>
            <a:r>
              <a:rPr lang="en-US" altLang="zh-TW">
                <a:solidFill>
                  <a:srgbClr val="000000"/>
                </a:solidFill>
              </a:rPr>
              <a:t>)</a:t>
            </a:r>
            <a:r>
              <a:rPr lang="zh-TW" altLang="en-US">
                <a:solidFill>
                  <a:srgbClr val="000000"/>
                </a:solidFill>
              </a:rPr>
              <a:t>：</a:t>
            </a:r>
            <a:r>
              <a:rPr lang="en-US" altLang="zh-TW" err="1">
                <a:solidFill>
                  <a:srgbClr val="000000"/>
                </a:solidFill>
              </a:rPr>
              <a:t>macd</a:t>
            </a:r>
            <a:r>
              <a:rPr lang="zh-TW" altLang="en-US">
                <a:solidFill>
                  <a:srgbClr val="000000"/>
                </a:solidFill>
              </a:rPr>
              <a:t> 與 </a:t>
            </a:r>
            <a:r>
              <a:rPr lang="en-US" altLang="zh-TW" err="1">
                <a:solidFill>
                  <a:srgbClr val="000000"/>
                </a:solidFill>
              </a:rPr>
              <a:t>macd_signal</a:t>
            </a:r>
            <a:r>
              <a:rPr lang="zh-TW" altLang="en-US">
                <a:solidFill>
                  <a:srgbClr val="000000"/>
                </a:solidFill>
              </a:rPr>
              <a:t> 的差值。柱狀圖由負轉正或由正轉負，通常暗示趨勢即將改變。</a:t>
            </a:r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本專案在資料切分上，採用時間序列切分</a:t>
            </a:r>
            <a:r>
              <a:rPr lang="en-US"/>
              <a:t>（Time-series split</a:t>
            </a:r>
            <a:r>
              <a:rPr lang="zh-TW" altLang="en-US"/>
              <a:t>），比例為60%的訓練集</a:t>
            </a:r>
            <a:r>
              <a:rPr lang="en-US"/>
              <a:t>（Train split</a:t>
            </a:r>
            <a:r>
              <a:rPr lang="zh-TW" altLang="en-US"/>
              <a:t>）、20%的驗證集</a:t>
            </a:r>
            <a:r>
              <a:rPr lang="en-US"/>
              <a:t>（Validation split</a:t>
            </a:r>
            <a:r>
              <a:rPr lang="zh-TW" altLang="en-US"/>
              <a:t>）與20%的測試集</a:t>
            </a:r>
            <a:r>
              <a:rPr lang="en-US"/>
              <a:t>（Test split</a:t>
            </a:r>
            <a:r>
              <a:rPr lang="zh-TW" altLang="en-US"/>
              <a:t>）。</a:t>
            </a:r>
            <a:endParaRPr lang="zh-TW"/>
          </a:p>
          <a:p>
            <a:r>
              <a:rPr lang="zh-TW" altLang="en-US"/>
              <a:t>我們依循時間先後順序切分，不使用隨機打散，以防止未來資訊混入過去的訓練資料，避免嚴重的資料洩漏(Data Leakage)。</a:t>
            </a:r>
            <a:endParaRPr lang="zh-TW"/>
          </a:p>
          <a:p>
            <a:r>
              <a:rPr lang="zh-TW" altLang="en-US"/>
              <a:t>每個模型只使用訓練集進行擬合</a:t>
            </a:r>
            <a:r>
              <a:rPr lang="en-US"/>
              <a:t>（fit model only</a:t>
            </a:r>
            <a:r>
              <a:rPr lang="zh-TW" altLang="en-US"/>
              <a:t>）；驗證集用於比較模型與搜尋最佳機率門檻</a:t>
            </a:r>
            <a:r>
              <a:rPr lang="en-US"/>
              <a:t>（search threshold</a:t>
            </a:r>
            <a:r>
              <a:rPr lang="zh-TW" altLang="en-US"/>
              <a:t>）；測試集則保留作為最終的樣本外績效報告</a:t>
            </a:r>
            <a:r>
              <a:rPr lang="en-US"/>
              <a:t>（final out-of-sample report</a:t>
            </a:r>
            <a:r>
              <a:rPr lang="zh-TW" altLang="en-US"/>
              <a:t>）。</a:t>
            </a:r>
            <a:r>
              <a:rPr lang="en-US" altLang="zh-TW"/>
              <a:t> </a:t>
            </a:r>
            <a:endParaRPr lang="zh-TW"/>
          </a:p>
          <a:p>
            <a:r>
              <a:rPr lang="zh-TW" altLang="en-US"/>
              <a:t>在模型建置上，本專案針對同一組包含11項技術指標的特徵，測試了線性、降維與非線性等四組候選模型。</a:t>
            </a:r>
            <a:r>
              <a:rPr lang="en-US" altLang="zh-TW"/>
              <a:t> </a:t>
            </a:r>
            <a:endParaRPr lang="zh-TW"/>
          </a:p>
          <a:p>
            <a:r>
              <a:rPr lang="zh-TW" altLang="en-US"/>
              <a:t>第一組是</a:t>
            </a:r>
            <a:r>
              <a:rPr lang="en-US"/>
              <a:t> </a:t>
            </a:r>
            <a:r>
              <a:rPr lang="en-US" err="1"/>
              <a:t>LogisticRegression_Ridge</a:t>
            </a:r>
            <a:r>
              <a:rPr lang="zh-TW" altLang="en-US"/>
              <a:t>。此模型在建模前先使用</a:t>
            </a:r>
            <a:r>
              <a:rPr lang="en-US"/>
              <a:t> </a:t>
            </a:r>
            <a:r>
              <a:rPr lang="en-US" err="1"/>
              <a:t>StandardScaler</a:t>
            </a:r>
            <a:r>
              <a:rPr lang="en-US" altLang="zh-TW"/>
              <a:t> </a:t>
            </a:r>
            <a:r>
              <a:rPr lang="zh-TW" altLang="en-US"/>
              <a:t>進行資料縮放，並引入</a:t>
            </a:r>
            <a:r>
              <a:rPr lang="en-US"/>
              <a:t> L2</a:t>
            </a:r>
            <a:r>
              <a:rPr lang="en-US" altLang="zh-TW"/>
              <a:t> </a:t>
            </a:r>
            <a:r>
              <a:rPr lang="zh-TW" altLang="en-US"/>
              <a:t>正規化</a:t>
            </a:r>
            <a:r>
              <a:rPr lang="en-US"/>
              <a:t>（L2 regularization</a:t>
            </a:r>
            <a:r>
              <a:rPr lang="zh-TW" altLang="en-US"/>
              <a:t>）來對抗金融雜訊，作為本專案具備高度可解釋性的線性基準模型</a:t>
            </a:r>
            <a:r>
              <a:rPr lang="en-US"/>
              <a:t>（interpretable linear baseline</a:t>
            </a:r>
            <a:r>
              <a:rPr lang="zh-TW" altLang="en-US"/>
              <a:t>）。</a:t>
            </a:r>
            <a:r>
              <a:rPr lang="en-US" altLang="zh-TW"/>
              <a:t> </a:t>
            </a:r>
            <a:endParaRPr lang="zh-TW"/>
          </a:p>
          <a:p>
            <a:r>
              <a:rPr lang="zh-TW" altLang="en-US"/>
              <a:t>第二組是</a:t>
            </a:r>
            <a:r>
              <a:rPr lang="en-US"/>
              <a:t> </a:t>
            </a:r>
            <a:r>
              <a:rPr lang="en-US" err="1"/>
              <a:t>PCA_LogReg</a:t>
            </a:r>
            <a:r>
              <a:rPr lang="zh-TW" altLang="en-US"/>
              <a:t>。同樣先經過</a:t>
            </a:r>
            <a:r>
              <a:rPr lang="en-US"/>
              <a:t> </a:t>
            </a:r>
            <a:r>
              <a:rPr lang="en-US" err="1"/>
              <a:t>StandardScaler</a:t>
            </a:r>
            <a:r>
              <a:rPr lang="zh-TW" altLang="en-US"/>
              <a:t>，再串接主成分分析</a:t>
            </a:r>
            <a:r>
              <a:rPr lang="en-US"/>
              <a:t>（PCA</a:t>
            </a:r>
            <a:r>
              <a:rPr lang="zh-TW" altLang="en-US"/>
              <a:t>）降維技術。我們設定保留90%的變異數</a:t>
            </a:r>
            <a:r>
              <a:rPr lang="en-US"/>
              <a:t>（keep 90% variance</a:t>
            </a:r>
            <a:r>
              <a:rPr lang="zh-TW" altLang="en-US"/>
              <a:t>），藉此移除特徵間的共線性，有效減少高雜訊維度</a:t>
            </a:r>
            <a:r>
              <a:rPr lang="en-US"/>
              <a:t>（reduce noisy dimensions</a:t>
            </a:r>
            <a:r>
              <a:rPr lang="zh-TW" altLang="en-US"/>
              <a:t>）。</a:t>
            </a:r>
            <a:r>
              <a:rPr lang="en-US" altLang="zh-TW"/>
              <a:t> </a:t>
            </a:r>
            <a:endParaRPr lang="zh-TW"/>
          </a:p>
          <a:p>
            <a:r>
              <a:rPr lang="zh-TW" altLang="en-US"/>
              <a:t>第三組是隨機森林</a:t>
            </a:r>
            <a:r>
              <a:rPr lang="en-US"/>
              <a:t> </a:t>
            </a:r>
            <a:r>
              <a:rPr lang="en-US" err="1"/>
              <a:t>RandomForest</a:t>
            </a:r>
            <a:r>
              <a:rPr lang="zh-TW" altLang="en-US"/>
              <a:t>。此模型建構了五百棵決策樹</a:t>
            </a:r>
            <a:r>
              <a:rPr lang="en-US"/>
              <a:t>（500 trees</a:t>
            </a:r>
            <a:r>
              <a:rPr lang="zh-TW" altLang="en-US"/>
              <a:t>），並限制最大深度為六</a:t>
            </a:r>
            <a:r>
              <a:rPr lang="en-US"/>
              <a:t>（</a:t>
            </a:r>
            <a:r>
              <a:rPr lang="en-US" err="1"/>
              <a:t>max_depth</a:t>
            </a:r>
            <a:r>
              <a:rPr lang="en-US"/>
              <a:t> = 6</a:t>
            </a:r>
            <a:r>
              <a:rPr lang="zh-TW" altLang="en-US"/>
              <a:t>），用以捕捉市場中複雜的非線性規則</a:t>
            </a:r>
            <a:r>
              <a:rPr lang="en-US"/>
              <a:t>（nonlinear rules</a:t>
            </a:r>
            <a:r>
              <a:rPr lang="zh-TW" altLang="en-US"/>
              <a:t>）。</a:t>
            </a:r>
            <a:r>
              <a:rPr lang="en-US" altLang="zh-TW"/>
              <a:t> </a:t>
            </a:r>
            <a:endParaRPr lang="zh-TW"/>
          </a:p>
          <a:p>
            <a:r>
              <a:rPr lang="zh-TW" altLang="en-US"/>
              <a:t>第四組是選配的</a:t>
            </a:r>
            <a:r>
              <a:rPr lang="en-US"/>
              <a:t> </a:t>
            </a:r>
            <a:r>
              <a:rPr lang="en-US" err="1"/>
              <a:t>XGBoost</a:t>
            </a:r>
            <a:r>
              <a:rPr lang="zh-TW" altLang="en-US"/>
              <a:t>。這是一款梯度提升模型</a:t>
            </a:r>
            <a:r>
              <a:rPr lang="en-US"/>
              <a:t>（gradient boosting</a:t>
            </a:r>
            <a:r>
              <a:rPr lang="zh-TW" altLang="en-US"/>
              <a:t>）。為了防止過度擬合，我們採取防禦性的參數配置，將學習率設為零點零一</a:t>
            </a:r>
            <a:r>
              <a:rPr lang="en-US"/>
              <a:t>（</a:t>
            </a:r>
            <a:r>
              <a:rPr lang="en-US" err="1"/>
              <a:t>learning_rate</a:t>
            </a:r>
            <a:r>
              <a:rPr lang="en-US"/>
              <a:t> = 0.01</a:t>
            </a:r>
            <a:r>
              <a:rPr lang="zh-TW" altLang="en-US"/>
              <a:t>），並將樣本與特徵的隨機抽樣比例限制在0.8</a:t>
            </a:r>
            <a:r>
              <a:rPr lang="en-US"/>
              <a:t>（subsample / </a:t>
            </a:r>
            <a:r>
              <a:rPr lang="en-US" err="1"/>
              <a:t>colsample</a:t>
            </a:r>
            <a:r>
              <a:rPr lang="en-US"/>
              <a:t> = 0.8</a:t>
            </a:r>
            <a:r>
              <a:rPr lang="zh-TW" altLang="en-US"/>
              <a:t>）。</a:t>
            </a:r>
            <a:r>
              <a:rPr lang="en-US" altLang="zh-TW"/>
              <a:t> </a:t>
            </a:r>
            <a:endParaRPr lang="zh-TW"/>
          </a:p>
          <a:p>
            <a:r>
              <a:rPr lang="zh-TW" altLang="en-US"/>
              <a:t>最後，解釋本專案的選模原則：不是驗證集的準確率</a:t>
            </a:r>
            <a:r>
              <a:rPr lang="en-US"/>
              <a:t>（validation accuracy</a:t>
            </a:r>
            <a:r>
              <a:rPr lang="zh-TW" altLang="en-US"/>
              <a:t>）最高就贏，而是以驗證集的回測報酬率</a:t>
            </a:r>
            <a:r>
              <a:rPr lang="en-US"/>
              <a:t>（validation </a:t>
            </a:r>
            <a:r>
              <a:rPr lang="en-US" err="1"/>
              <a:t>backtest</a:t>
            </a:r>
            <a:r>
              <a:rPr lang="en-US"/>
              <a:t> return</a:t>
            </a:r>
            <a:r>
              <a:rPr lang="zh-TW" altLang="en-US"/>
              <a:t>）最能對齊交易目標。</a:t>
            </a:r>
            <a:r>
              <a:rPr lang="en-US" altLang="zh-TW"/>
              <a:t> </a:t>
            </a:r>
            <a:endParaRPr lang="zh-TW"/>
          </a:p>
          <a:p>
            <a:r>
              <a:rPr lang="zh-TW" altLang="en-US"/>
              <a:t>主要原因在於，金融數據具有極高的雜訊，單純的方向預測準確率高，並不代表實務交易一定能獲利。如果模型在震盪市況中猜對很多次，但在市場發生極端暴跌時判斷錯誤，策略依然會面臨重大的回撤風險；</a:t>
            </a:r>
            <a:endParaRPr lang="zh-TW"/>
          </a:p>
          <a:p>
            <a:r>
              <a:rPr lang="zh-TW" altLang="en-US"/>
              <a:t>此外，如果高準確率背後伴隨著過於頻繁的訊號切換，累積的手續費與交易成本也可能吃掉所有利潤。</a:t>
            </a:r>
            <a:endParaRPr lang="zh-TW"/>
          </a:p>
          <a:p>
            <a:r>
              <a:rPr lang="zh-TW" altLang="en-US"/>
              <a:t>因此，我們不能孤立地看分類指標，必須將預測能力直接接到交易策略回測，以實質的投資報酬率、風險承受力與穩定性作為選模依據，這樣才符合實務上的量化交易核心目標。</a:t>
            </a:r>
            <a:endParaRPr lang="zh-TW"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358DF-791D-7063-3AC6-6259BD22D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79BB6-A701-6819-0691-958E15468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1E1D7-7181-55A6-1B20-F18F3A19E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B6D89-1084-02CD-132B-34468E87AEB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877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C51B5A0-0630-47AF-A70F-C2CF26D303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277B80-91B9-4CCE-BC5A-0385B71D04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82BC73-09F9-43A4-8695-4B5FE48D47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42EAA2-4DE9-4010-BF44-D747B7801532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647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DATA SCIENCE FINAL PROJECT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368D47-32DC-405A-BE32-1B6A83264D3F}"/>
              </a:ext>
            </a:extLst>
          </p:cNvPr>
          <p:cNvSpPr>
            <a:spLocks noGrp="1"/>
          </p:cNvSpPr>
          <p:nvPr/>
        </p:nvSpPr>
        <p:spPr>
          <a:xfrm>
            <a:off x="666749" y="1494913"/>
            <a:ext cx="6732025" cy="13632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3600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Technical Strategy</a:t>
            </a:r>
          </a:p>
          <a:p>
            <a:pPr algn="l">
              <a:defRPr sz="33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3600" b="1" err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股票方向預測與交易策略分析</a:t>
            </a:r>
            <a:endParaRPr lang="zh-TW" altLang="en-US" sz="4000" b="1">
              <a:solidFill>
                <a:srgbClr val="FFFFFF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1345EC-99B1-4172-918D-5C69224F84DE}"/>
              </a:ext>
            </a:extLst>
          </p:cNvPr>
          <p:cNvSpPr>
            <a:spLocks noGrp="1"/>
          </p:cNvSpPr>
          <p:nvPr/>
        </p:nvSpPr>
        <p:spPr>
          <a:xfrm>
            <a:off x="663882" y="3198556"/>
            <a:ext cx="6572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CBD5E1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>
                <a:solidFill>
                  <a:srgbClr val="CBD5E1"/>
                </a:solidFill>
                <a:ea typeface="+mn-lt"/>
                <a:cs typeface="+mn-lt"/>
              </a:rPr>
              <a:t>預測股票隔日漲跌</a:t>
            </a:r>
            <a:r>
              <a:rPr lang="en-US" b="0">
                <a:solidFill>
                  <a:srgbClr val="CBD5E1"/>
                </a:solidFill>
                <a:ea typeface="+mn-lt"/>
                <a:cs typeface="+mn-lt"/>
              </a:rPr>
              <a:t>，</a:t>
            </a:r>
            <a:r>
              <a:rPr lang="zh-TW" altLang="en-US">
                <a:solidFill>
                  <a:srgbClr val="CBD5E1"/>
                </a:solidFill>
                <a:ea typeface="+mn-lt"/>
                <a:cs typeface="+mn-lt"/>
              </a:rPr>
              <a:t>以交易績效驗證模型的真實價值</a:t>
            </a:r>
            <a:endParaRPr lang="zh-TW" altLang="en-US"/>
          </a:p>
        </p:txBody>
      </p:sp>
      <p:pic>
        <p:nvPicPr>
          <p:cNvPr id="23" name="圖片 22" descr="一張含有 文字, 電腦, 建築, 筆記型電腦 的圖片&#10;&#10;AI 產生的內容可能不正確。">
            <a:extLst>
              <a:ext uri="{FF2B5EF4-FFF2-40B4-BE49-F238E27FC236}">
                <a16:creationId xmlns:a16="http://schemas.microsoft.com/office/drawing/2014/main" id="{FD200877-DA15-88D0-A837-E43196EDF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648" y="0"/>
            <a:ext cx="4789480" cy="6858000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9B4C67C9-C2C8-6F5E-BF58-74CC446401FE}"/>
              </a:ext>
            </a:extLst>
          </p:cNvPr>
          <p:cNvSpPr txBox="1"/>
          <p:nvPr/>
        </p:nvSpPr>
        <p:spPr>
          <a:xfrm>
            <a:off x="573549" y="4453193"/>
            <a:ext cx="60960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1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"/>
                <a:ea typeface="Aptos"/>
                <a:cs typeface="Calibri"/>
              </a:rPr>
              <a:t>Group</a:t>
            </a:r>
            <a:r>
              <a:rPr lang="zh-TW" altLang="en-US" sz="1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"/>
                <a:ea typeface="Aptos"/>
                <a:cs typeface="Calibri"/>
              </a:rPr>
              <a:t> ：</a:t>
            </a:r>
            <a:r>
              <a:rPr lang="zh-TW" altLang="en-US" sz="1100" b="1" dirty="0">
                <a:solidFill>
                  <a:srgbClr val="00A7C7"/>
                </a:solidFill>
                <a:latin typeface="Aptos"/>
                <a:ea typeface="Aptos"/>
                <a:cs typeface="Calibri"/>
              </a:rPr>
              <a:t> </a:t>
            </a:r>
            <a:r>
              <a:rPr lang="zh-TW" altLang="en-US" sz="1100">
                <a:solidFill>
                  <a:srgbClr val="94A3B8"/>
                </a:solidFill>
                <a:latin typeface="Aptos"/>
                <a:cs typeface="Calibri"/>
              </a:rPr>
              <a:t>Group 2</a:t>
            </a:r>
            <a:br>
              <a:rPr lang="zh-TW" altLang="en-US" sz="1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"/>
                <a:ea typeface="Aptos"/>
                <a:cs typeface="Calibri"/>
              </a:rPr>
            </a:br>
            <a:r>
              <a:rPr lang="zh-TW" sz="1100" b="1" kern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"/>
                <a:ea typeface="Aptos"/>
                <a:cs typeface="Calibri"/>
              </a:rPr>
              <a:t>Presenters </a:t>
            </a:r>
            <a:r>
              <a:rPr lang="zh-TW" altLang="en-US" sz="1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"/>
                <a:ea typeface="Aptos"/>
                <a:cs typeface="Calibri"/>
              </a:rPr>
              <a:t>：</a:t>
            </a:r>
            <a:r>
              <a:rPr lang="zh-TW" altLang="en-US" sz="1100" b="1" dirty="0">
                <a:solidFill>
                  <a:srgbClr val="00A7C7"/>
                </a:solidFill>
                <a:latin typeface="Aptos"/>
                <a:ea typeface="Aptos"/>
                <a:cs typeface="Calibri"/>
              </a:rPr>
              <a:t> </a:t>
            </a:r>
            <a:r>
              <a:rPr lang="zh-TW" sz="1100" b="1" kern="1200" dirty="0">
                <a:solidFill>
                  <a:srgbClr val="00A7C7"/>
                </a:solidFill>
                <a:latin typeface="Aptos"/>
                <a:ea typeface="Aptos"/>
                <a:cs typeface="Calibri"/>
              </a:rPr>
              <a:t> </a:t>
            </a:r>
            <a:r>
              <a:rPr lang="zh-TW" altLang="en-US" sz="1100" dirty="0">
                <a:solidFill>
                  <a:srgbClr val="94A3B8"/>
                </a:solidFill>
                <a:latin typeface="Aptos"/>
                <a:cs typeface="Calibri"/>
              </a:rPr>
              <a:t>施政樟</a:t>
            </a:r>
            <a:r>
              <a:rPr lang="en-US" altLang="en-US" sz="11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(</a:t>
            </a:r>
            <a:r>
              <a:rPr lang="en-US" sz="1100" dirty="0">
                <a:solidFill>
                  <a:srgbClr val="94A3B8"/>
                </a:solidFill>
                <a:ea typeface="+mn-lt"/>
                <a:cs typeface="+mn-lt"/>
              </a:rPr>
              <a:t>114971025</a:t>
            </a:r>
            <a:r>
              <a:rPr lang="en-US" altLang="en-US" sz="11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)</a:t>
            </a:r>
            <a:r>
              <a:rPr lang="zh-TW" sz="1100" b="0" kern="12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　·　</a:t>
            </a:r>
            <a:r>
              <a:rPr lang="zh-TW" sz="1100" dirty="0">
                <a:solidFill>
                  <a:srgbClr val="94A3B8"/>
                </a:solidFill>
                <a:ea typeface="+mn-lt"/>
                <a:cs typeface="+mn-lt"/>
              </a:rPr>
              <a:t>賴昱瑋</a:t>
            </a:r>
            <a:r>
              <a:rPr lang="en-US" altLang="zh-TW" sz="11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1100" dirty="0">
                <a:solidFill>
                  <a:srgbClr val="94A3B8"/>
                </a:solidFill>
                <a:ea typeface="+mn-lt"/>
                <a:cs typeface="+mn-lt"/>
              </a:rPr>
              <a:t>114971009</a:t>
            </a:r>
            <a:r>
              <a:rPr lang="en-US" altLang="zh-TW" sz="11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)</a:t>
            </a:r>
            <a:r>
              <a:rPr lang="zh-TW" sz="1100" b="0" kern="12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　·　</a:t>
            </a:r>
            <a:r>
              <a:rPr lang="zh-TW" altLang="en-US" sz="11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劉家揚</a:t>
            </a:r>
            <a:r>
              <a:rPr lang="en-US" altLang="zh-TW" sz="11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(114971002</a:t>
            </a:r>
            <a:r>
              <a:rPr lang="en-US" altLang="en-US" sz="11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)</a:t>
            </a:r>
            <a:br>
              <a:rPr lang="en-US" altLang="en-US" sz="1100" dirty="0">
                <a:latin typeface="Aptos"/>
                <a:ea typeface="+mn-lt"/>
                <a:cs typeface="+mn-lt"/>
              </a:rPr>
            </a:br>
            <a:r>
              <a:rPr lang="zh-TW" sz="1100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zh-TW" altLang="en-US" sz="1100" dirty="0">
                <a:solidFill>
                  <a:srgbClr val="94A3B8"/>
                </a:solidFill>
                <a:ea typeface="+mn-lt"/>
                <a:cs typeface="+mn-lt"/>
              </a:rPr>
              <a:t>                            </a:t>
            </a:r>
            <a:r>
              <a:rPr lang="zh-TW" sz="1100" dirty="0">
                <a:solidFill>
                  <a:srgbClr val="94A3B8"/>
                </a:solidFill>
                <a:ea typeface="+mn-lt"/>
                <a:cs typeface="+mn-lt"/>
              </a:rPr>
              <a:t>游振洲</a:t>
            </a:r>
            <a:r>
              <a:rPr lang="en-US" altLang="zh-TW" sz="11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(</a:t>
            </a:r>
            <a:r>
              <a:rPr lang="en-US" sz="1100" dirty="0">
                <a:solidFill>
                  <a:srgbClr val="94A3B8"/>
                </a:solidFill>
                <a:ea typeface="+mn-lt"/>
                <a:cs typeface="+mn-lt"/>
              </a:rPr>
              <a:t>114971011</a:t>
            </a:r>
            <a:r>
              <a:rPr lang="en-US" altLang="zh-TW" sz="11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)</a:t>
            </a:r>
            <a:r>
              <a:rPr lang="zh-TW" sz="1100" b="0" kern="12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　·　</a:t>
            </a:r>
            <a:r>
              <a:rPr lang="zh-TW" altLang="en-US" sz="1100" dirty="0">
                <a:solidFill>
                  <a:srgbClr val="94A3B8"/>
                </a:solidFill>
                <a:latin typeface="Aptos"/>
                <a:ea typeface="Calibri"/>
                <a:cs typeface="Calibri"/>
              </a:rPr>
              <a:t>林福</a:t>
            </a:r>
            <a:r>
              <a:rPr lang="zh-TW" altLang="en-US" sz="1100" dirty="0">
                <a:solidFill>
                  <a:srgbClr val="94A3B8"/>
                </a:solidFill>
                <a:ea typeface="+mn-lt"/>
                <a:cs typeface="+mn-lt"/>
              </a:rPr>
              <a:t>田(</a:t>
            </a:r>
            <a:r>
              <a:rPr lang="en-US" altLang="zh-TW" sz="1100" dirty="0">
                <a:solidFill>
                  <a:srgbClr val="94A3B8"/>
                </a:solidFill>
                <a:ea typeface="+mn-lt"/>
                <a:cs typeface="+mn-lt"/>
              </a:rPr>
              <a:t>114971013)</a:t>
            </a:r>
            <a:endParaRPr lang="zh-TW" altLang="en-US" sz="1100" dirty="0">
              <a:solidFill>
                <a:srgbClr val="94A3B8"/>
              </a:solidFill>
              <a:ea typeface="+mn-lt"/>
              <a:cs typeface="+mn-lt"/>
            </a:endParaRPr>
          </a:p>
          <a:p>
            <a:r>
              <a:rPr lang="en-US" altLang="zh-TW" sz="1100" b="1">
                <a:solidFill>
                  <a:schemeClr val="accent4">
                    <a:lumMod val="60000"/>
                    <a:lumOff val="40000"/>
                  </a:schemeClr>
                </a:solidFill>
                <a:latin typeface="Aptos"/>
              </a:rPr>
              <a:t>Date：</a:t>
            </a:r>
            <a:r>
              <a:rPr lang="en-US" altLang="zh-TW" sz="1100">
                <a:solidFill>
                  <a:srgbClr val="94A3B8"/>
                </a:solidFill>
                <a:latin typeface="Aptos"/>
              </a:rPr>
              <a:t>2026.06.11</a:t>
            </a:r>
            <a:endParaRPr lang="zh-TW" sz="1100">
              <a:solidFill>
                <a:srgbClr val="94A3B8"/>
              </a:solidFill>
              <a:latin typeface="Aptos"/>
            </a:endParaRPr>
          </a:p>
          <a:p>
            <a:pPr algn="ctr"/>
            <a:endParaRPr lang="zh-TW" altLang="en-US" sz="2000"/>
          </a:p>
        </p:txBody>
      </p:sp>
    </p:spTree>
    <p:extLst>
      <p:ext uri="{BB962C8B-B14F-4D97-AF65-F5344CB8AC3E}">
        <p14:creationId xmlns:p14="http://schemas.microsoft.com/office/powerpoint/2010/main" val="896537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41215306-C641-443F-86A1-223A65ABCC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9F4B9A-B0A6-42C3-A7E3-0811A04816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8EF772-42CE-43AE-9E36-35457B8E31EA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A583BB-5BA1-4A66-8794-1652350274A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36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36A7A"/>
                </a:solidFill>
                <a:latin typeface="Aptos"/>
                <a:ea typeface="Aptos"/>
                <a:cs typeface="Aptos"/>
              </a:rPr>
              <a:t>REPORT STRUCTURE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F3163B-7500-487C-9306-B510D7C295D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2800" b="1" err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五大主題</a:t>
            </a:r>
            <a:r>
              <a:rPr lang="zh-TW" altLang="en-US" sz="28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：</a:t>
            </a:r>
            <a:endParaRPr lang="zh-TW" altLang="en-US" sz="2800">
              <a:solidFill>
                <a:srgbClr val="111827"/>
              </a:solidFill>
              <a:latin typeface="Microsoft JhengHei U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C2042C-ACEA-470B-9260-268C22DBEC29}"/>
              </a:ext>
            </a:extLst>
          </p:cNvPr>
          <p:cNvSpPr>
            <a:spLocks noGrp="1"/>
          </p:cNvSpPr>
          <p:nvPr/>
        </p:nvSpPr>
        <p:spPr>
          <a:xfrm>
            <a:off x="628650" y="14478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sz="120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從研究問題一路走到模型驗證與</a:t>
            </a:r>
            <a:r>
              <a:rPr lang="zh-TW" sz="12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 </a:t>
            </a:r>
            <a:r>
              <a:rPr lang="en-US" sz="120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Streamlit</a:t>
            </a:r>
            <a:r>
              <a:rPr lang="en-US" sz="12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 </a:t>
            </a:r>
            <a:r>
              <a:rPr lang="zh-TW" sz="12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demo</a:t>
            </a:r>
            <a:r>
              <a:rPr lang="en-US" sz="12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。</a:t>
            </a:r>
            <a:endParaRPr lang="zh-TW" altLang="en-US" sz="1200">
              <a:solidFill>
                <a:srgbClr val="475569"/>
              </a:solidFill>
              <a:latin typeface="Microsoft Jheng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6590C7-4CC3-48C8-99B2-D66155545CB7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657350" cy="1123950"/>
          </a:xfrm>
          <a:prstGeom prst="rect">
            <a:avLst/>
          </a:prstGeom>
          <a:solidFill>
            <a:srgbClr val="DBF4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457104-B5BC-458A-8899-757ACFDAE033}"/>
              </a:ext>
            </a:extLst>
          </p:cNvPr>
          <p:cNvSpPr>
            <a:spLocks noGrp="1"/>
          </p:cNvSpPr>
          <p:nvPr/>
        </p:nvSpPr>
        <p:spPr>
          <a:xfrm>
            <a:off x="800100" y="2514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1. Goal</a:t>
            </a:r>
            <a:endParaRPr lang="af-ZA" altLang="zh-TW" sz="1400" b="1">
              <a:solidFill>
                <a:srgbClr val="111827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F4ABD-AFD4-4FAD-B1F5-2246DC2A05EC}"/>
              </a:ext>
            </a:extLst>
          </p:cNvPr>
          <p:cNvSpPr>
            <a:spLocks noGrp="1"/>
          </p:cNvSpPr>
          <p:nvPr/>
        </p:nvSpPr>
        <p:spPr>
          <a:xfrm>
            <a:off x="800100" y="2842610"/>
            <a:ext cx="1428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000" b="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預測隔日方向</a:t>
            </a:r>
            <a:endParaRPr lang="zh-TW" altLang="en-US" sz="1000"/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000" b="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驗證是否能交易</a:t>
            </a:r>
            <a:endParaRPr lang="zh-TW" altLang="en-US" sz="10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9D1B97-0A38-4E0E-B74D-2BFFDF286535}"/>
              </a:ext>
            </a:extLst>
          </p:cNvPr>
          <p:cNvSpPr>
            <a:spLocks noGrp="1"/>
          </p:cNvSpPr>
          <p:nvPr/>
        </p:nvSpPr>
        <p:spPr>
          <a:xfrm>
            <a:off x="2343150" y="2924175"/>
            <a:ext cx="438150" cy="3810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372F71-F446-4428-877A-78D3F93840AF}"/>
              </a:ext>
            </a:extLst>
          </p:cNvPr>
          <p:cNvSpPr>
            <a:spLocks noGrp="1"/>
          </p:cNvSpPr>
          <p:nvPr/>
        </p:nvSpPr>
        <p:spPr>
          <a:xfrm>
            <a:off x="2695575" y="2867025"/>
            <a:ext cx="152400" cy="15240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14AE50-CD7F-49E8-B23A-66EB7667FC8C}"/>
              </a:ext>
            </a:extLst>
          </p:cNvPr>
          <p:cNvSpPr>
            <a:spLocks noGrp="1"/>
          </p:cNvSpPr>
          <p:nvPr/>
        </p:nvSpPr>
        <p:spPr>
          <a:xfrm>
            <a:off x="2781300" y="2381250"/>
            <a:ext cx="1657350" cy="1123950"/>
          </a:xfrm>
          <a:prstGeom prst="rect">
            <a:avLst/>
          </a:prstGeom>
          <a:solidFill>
            <a:srgbClr val="E0E7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4FD5BB-00D2-44A2-95A2-F206FFCB5369}"/>
              </a:ext>
            </a:extLst>
          </p:cNvPr>
          <p:cNvSpPr>
            <a:spLocks noGrp="1"/>
          </p:cNvSpPr>
          <p:nvPr/>
        </p:nvSpPr>
        <p:spPr>
          <a:xfrm>
            <a:off x="2895600" y="2514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2. Input</a:t>
            </a:r>
            <a:endParaRPr lang="af-ZA" altLang="zh-TW" sz="1400" b="1">
              <a:solidFill>
                <a:srgbClr val="111827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E049FA-FFA1-448D-9FA2-9FD6330066E0}"/>
              </a:ext>
            </a:extLst>
          </p:cNvPr>
          <p:cNvSpPr>
            <a:spLocks noGrp="1"/>
          </p:cNvSpPr>
          <p:nvPr/>
        </p:nvSpPr>
        <p:spPr>
          <a:xfrm>
            <a:off x="2895600" y="2842610"/>
            <a:ext cx="1428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0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Yahoo Finance OHLCV</a:t>
            </a:r>
            <a:endParaRPr lang="af-ZA" altLang="zh-TW" sz="1000"/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000" b="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使用者設定與資料清理</a:t>
            </a:r>
            <a:endParaRPr lang="zh-TW" altLang="en-US" sz="10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75C741-F3DC-45C8-8C05-E5BE8779A43C}"/>
              </a:ext>
            </a:extLst>
          </p:cNvPr>
          <p:cNvSpPr>
            <a:spLocks noGrp="1"/>
          </p:cNvSpPr>
          <p:nvPr/>
        </p:nvSpPr>
        <p:spPr>
          <a:xfrm>
            <a:off x="4438650" y="2924175"/>
            <a:ext cx="438150" cy="3810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D98AE8-45C2-427F-8AA4-BDB281743C8E}"/>
              </a:ext>
            </a:extLst>
          </p:cNvPr>
          <p:cNvSpPr>
            <a:spLocks noGrp="1"/>
          </p:cNvSpPr>
          <p:nvPr/>
        </p:nvSpPr>
        <p:spPr>
          <a:xfrm>
            <a:off x="4791075" y="2867025"/>
            <a:ext cx="152400" cy="15240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3478A07-25A7-4A01-BB90-40B57B8A062E}"/>
              </a:ext>
            </a:extLst>
          </p:cNvPr>
          <p:cNvSpPr>
            <a:spLocks noGrp="1"/>
          </p:cNvSpPr>
          <p:nvPr/>
        </p:nvSpPr>
        <p:spPr>
          <a:xfrm>
            <a:off x="4876800" y="2381250"/>
            <a:ext cx="1657350" cy="1123950"/>
          </a:xfrm>
          <a:prstGeom prst="rect">
            <a:avLst/>
          </a:prstGeom>
          <a:solidFill>
            <a:srgbClr val="F3E8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1F6EA0-E30E-4205-BE81-5FF4057E9840}"/>
              </a:ext>
            </a:extLst>
          </p:cNvPr>
          <p:cNvSpPr>
            <a:spLocks noGrp="1"/>
          </p:cNvSpPr>
          <p:nvPr/>
        </p:nvSpPr>
        <p:spPr>
          <a:xfrm>
            <a:off x="4991100" y="2514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3. Modeling</a:t>
            </a:r>
            <a:endParaRPr lang="af-ZA" altLang="zh-TW" sz="1400" b="1">
              <a:solidFill>
                <a:srgbClr val="111827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979106-D516-4FC3-B801-D15F391B759E}"/>
              </a:ext>
            </a:extLst>
          </p:cNvPr>
          <p:cNvSpPr>
            <a:spLocks noGrp="1"/>
          </p:cNvSpPr>
          <p:nvPr/>
        </p:nvSpPr>
        <p:spPr>
          <a:xfrm>
            <a:off x="4991100" y="2842610"/>
            <a:ext cx="1428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000" b="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技術指標特徵</a:t>
            </a:r>
            <a:endParaRPr lang="zh-TW" altLang="en-US" sz="1000"/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000" b="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四組候選模型</a:t>
            </a:r>
            <a:endParaRPr lang="zh-TW" altLang="en-US" sz="9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B23297-C496-43E6-B9A2-DECCCA57F3AF}"/>
              </a:ext>
            </a:extLst>
          </p:cNvPr>
          <p:cNvSpPr>
            <a:spLocks noGrp="1"/>
          </p:cNvSpPr>
          <p:nvPr/>
        </p:nvSpPr>
        <p:spPr>
          <a:xfrm>
            <a:off x="6534150" y="2924175"/>
            <a:ext cx="438150" cy="3810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E30003-B98A-4CA2-B8A7-9D656B851009}"/>
              </a:ext>
            </a:extLst>
          </p:cNvPr>
          <p:cNvSpPr>
            <a:spLocks noGrp="1"/>
          </p:cNvSpPr>
          <p:nvPr/>
        </p:nvSpPr>
        <p:spPr>
          <a:xfrm>
            <a:off x="6886575" y="2867025"/>
            <a:ext cx="152400" cy="15240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E428D7-A630-4E10-AC0C-78A680DA2081}"/>
              </a:ext>
            </a:extLst>
          </p:cNvPr>
          <p:cNvSpPr>
            <a:spLocks noGrp="1"/>
          </p:cNvSpPr>
          <p:nvPr/>
        </p:nvSpPr>
        <p:spPr>
          <a:xfrm>
            <a:off x="6972300" y="2381250"/>
            <a:ext cx="1657350" cy="1123950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DC2121-F129-4584-88EF-F7B221229E99}"/>
              </a:ext>
            </a:extLst>
          </p:cNvPr>
          <p:cNvSpPr>
            <a:spLocks noGrp="1"/>
          </p:cNvSpPr>
          <p:nvPr/>
        </p:nvSpPr>
        <p:spPr>
          <a:xfrm>
            <a:off x="7086600" y="2514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4. Evaluation</a:t>
            </a:r>
            <a:endParaRPr lang="af-ZA" altLang="zh-TW" sz="1400" b="1">
              <a:solidFill>
                <a:srgbClr val="111827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665BA4-1F96-4300-AA7C-A3967B26C67C}"/>
              </a:ext>
            </a:extLst>
          </p:cNvPr>
          <p:cNvSpPr>
            <a:spLocks noGrp="1"/>
          </p:cNvSpPr>
          <p:nvPr/>
        </p:nvSpPr>
        <p:spPr>
          <a:xfrm>
            <a:off x="7086600" y="2842610"/>
            <a:ext cx="1428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000" b="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分類指標</a:t>
            </a:r>
            <a:r>
              <a:rPr lang="zh-TW" altLang="en-US" sz="10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 </a:t>
            </a:r>
            <a:r>
              <a:rPr lang="en-US" altLang="zh-TW" sz="10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+ </a:t>
            </a:r>
            <a:r>
              <a:rPr lang="zh-TW" altLang="en-US" sz="1000" b="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交易績效</a:t>
            </a:r>
            <a:endParaRPr lang="zh-TW" altLang="en-US" sz="1000"/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0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validation </a:t>
            </a:r>
            <a:r>
              <a:rPr lang="zh-TW" altLang="en-US" sz="1000" b="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選模型</a:t>
            </a:r>
            <a:endParaRPr lang="zh-TW" altLang="en-US" sz="9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4F1EBA-850F-447C-9154-54AD5D2612BD}"/>
              </a:ext>
            </a:extLst>
          </p:cNvPr>
          <p:cNvSpPr>
            <a:spLocks noGrp="1"/>
          </p:cNvSpPr>
          <p:nvPr/>
        </p:nvSpPr>
        <p:spPr>
          <a:xfrm>
            <a:off x="8629650" y="2924175"/>
            <a:ext cx="438150" cy="3810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784A60E-E6DC-4348-967E-BB8175585194}"/>
              </a:ext>
            </a:extLst>
          </p:cNvPr>
          <p:cNvSpPr>
            <a:spLocks noGrp="1"/>
          </p:cNvSpPr>
          <p:nvPr/>
        </p:nvSpPr>
        <p:spPr>
          <a:xfrm>
            <a:off x="8982075" y="2867025"/>
            <a:ext cx="152400" cy="15240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E839E27-090E-4EAA-A11C-3E5F8541586D}"/>
              </a:ext>
            </a:extLst>
          </p:cNvPr>
          <p:cNvSpPr>
            <a:spLocks noGrp="1"/>
          </p:cNvSpPr>
          <p:nvPr/>
        </p:nvSpPr>
        <p:spPr>
          <a:xfrm>
            <a:off x="9067800" y="2381250"/>
            <a:ext cx="1657350" cy="1123950"/>
          </a:xfrm>
          <a:prstGeom prst="rect">
            <a:avLst/>
          </a:prstGeom>
          <a:solidFill>
            <a:srgbClr val="FEF3C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F80729-A0F6-4C2C-BF26-AB3D42B6EC0E}"/>
              </a:ext>
            </a:extLst>
          </p:cNvPr>
          <p:cNvSpPr>
            <a:spLocks noGrp="1"/>
          </p:cNvSpPr>
          <p:nvPr/>
        </p:nvSpPr>
        <p:spPr>
          <a:xfrm>
            <a:off x="9182100" y="25146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5. Demo &amp; Next</a:t>
            </a:r>
            <a:endParaRPr lang="af-ZA" altLang="zh-TW" sz="1400" b="1">
              <a:solidFill>
                <a:srgbClr val="111827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871FC1B-3F45-425E-8C4D-7427891C23C1}"/>
              </a:ext>
            </a:extLst>
          </p:cNvPr>
          <p:cNvSpPr>
            <a:spLocks noGrp="1"/>
          </p:cNvSpPr>
          <p:nvPr/>
        </p:nvSpPr>
        <p:spPr>
          <a:xfrm>
            <a:off x="9182100" y="2842610"/>
            <a:ext cx="1428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0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Dashboard </a:t>
            </a:r>
            <a:r>
              <a:rPr lang="zh-TW" altLang="en-US" sz="1000" b="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操作</a:t>
            </a:r>
            <a:endParaRPr lang="zh-TW" altLang="en-US" sz="1000"/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000" b="0" err="1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限制與改進方向</a:t>
            </a:r>
            <a:endParaRPr lang="zh-TW" altLang="en-US" sz="9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5B3209-F471-42A4-BEBC-53F09BE1098D}"/>
              </a:ext>
            </a:extLst>
          </p:cNvPr>
          <p:cNvSpPr>
            <a:spLocks noGrp="1"/>
          </p:cNvSpPr>
          <p:nvPr/>
        </p:nvSpPr>
        <p:spPr>
          <a:xfrm>
            <a:off x="800100" y="4333875"/>
            <a:ext cx="4953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6A8B1D5-4AEE-4214-AC70-EF8EAB478FF0}"/>
              </a:ext>
            </a:extLst>
          </p:cNvPr>
          <p:cNvSpPr>
            <a:spLocks noGrp="1"/>
          </p:cNvSpPr>
          <p:nvPr/>
        </p:nvSpPr>
        <p:spPr>
          <a:xfrm>
            <a:off x="800100" y="4333875"/>
            <a:ext cx="66675" cy="1104900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A8CB889-E4CF-4236-B40E-C45D3C0DD77A}"/>
              </a:ext>
            </a:extLst>
          </p:cNvPr>
          <p:cNvSpPr>
            <a:spLocks noGrp="1"/>
          </p:cNvSpPr>
          <p:nvPr/>
        </p:nvSpPr>
        <p:spPr>
          <a:xfrm>
            <a:off x="1009650" y="4505325"/>
            <a:ext cx="457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核心報告訊息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5CCDDE-1C38-4523-ABE6-FB94871414D6}"/>
              </a:ext>
            </a:extLst>
          </p:cNvPr>
          <p:cNvSpPr>
            <a:spLocks noGrp="1"/>
          </p:cNvSpPr>
          <p:nvPr/>
        </p:nvSpPr>
        <p:spPr>
          <a:xfrm>
            <a:off x="1009650" y="4848225"/>
            <a:ext cx="4572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這不是單純做分類模型，而是把「預測」接到「交易策略回測」：如果模型訊號無法改善報酬、風險或穩定性，就不能說它有投資價值。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DE865FB-3FF3-4F84-B348-AF538603AC8C}"/>
              </a:ext>
            </a:extLst>
          </p:cNvPr>
          <p:cNvSpPr>
            <a:spLocks noGrp="1"/>
          </p:cNvSpPr>
          <p:nvPr/>
        </p:nvSpPr>
        <p:spPr>
          <a:xfrm>
            <a:off x="6286500" y="4333875"/>
            <a:ext cx="4152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A6193C8-E85C-4F2A-B6EF-9D1D68EC8C2E}"/>
              </a:ext>
            </a:extLst>
          </p:cNvPr>
          <p:cNvSpPr>
            <a:spLocks noGrp="1"/>
          </p:cNvSpPr>
          <p:nvPr/>
        </p:nvSpPr>
        <p:spPr>
          <a:xfrm>
            <a:off x="6286500" y="4333875"/>
            <a:ext cx="66675" cy="11049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03970CC-882C-4E77-8E6B-958326E20DEA}"/>
              </a:ext>
            </a:extLst>
          </p:cNvPr>
          <p:cNvSpPr>
            <a:spLocks noGrp="1"/>
          </p:cNvSpPr>
          <p:nvPr/>
        </p:nvSpPr>
        <p:spPr>
          <a:xfrm>
            <a:off x="6496050" y="4505325"/>
            <a:ext cx="3771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簡報定位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C85A0-D0E4-45BB-A8D5-650C80F422D9}"/>
              </a:ext>
            </a:extLst>
          </p:cNvPr>
          <p:cNvSpPr>
            <a:spLocks noGrp="1"/>
          </p:cNvSpPr>
          <p:nvPr/>
        </p:nvSpPr>
        <p:spPr>
          <a:xfrm>
            <a:off x="6496050" y="4848225"/>
            <a:ext cx="3771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可搭配 Streamlit 現場 demo：簡報負責解釋方法與評估邏輯，dashboard 負責展示實際訓練與回測結果。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8BE1337-2BBD-4F2B-9480-36B38F57E95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NCCU Data Science Final Project · technical_strategy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3A7A8AC-AA2D-4402-9191-11035C87815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464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3585112-0FB0-4077-A99E-972F458349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B30544-E333-41ED-81C4-5D46052C31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2549B1-3B76-45AC-88D1-DC4754FDAF5C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C5F18B-DC25-4616-9A87-1076724B5D8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36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36A7A"/>
                </a:solidFill>
                <a:latin typeface="Aptos"/>
                <a:ea typeface="Aptos"/>
                <a:cs typeface="Aptos"/>
              </a:rPr>
              <a:t>1 / GOAL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12602D-B7AF-4F56-A404-7D9C5AD6BA46}"/>
              </a:ext>
            </a:extLst>
          </p:cNvPr>
          <p:cNvSpPr>
            <a:spLocks noGrp="1"/>
          </p:cNvSpPr>
          <p:nvPr/>
        </p:nvSpPr>
        <p:spPr>
          <a:xfrm>
            <a:off x="618358" y="640475"/>
            <a:ext cx="9662948" cy="7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2800" b="1" err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研究目標：預測隔日是否上漲，但用交易績效檢驗是否有價值</a:t>
            </a:r>
            <a:endParaRPr lang="zh-TW" altLang="en-US" sz="2800" err="1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13FD70-67A9-42B8-BC3C-9897B62C4B99}"/>
              </a:ext>
            </a:extLst>
          </p:cNvPr>
          <p:cNvSpPr>
            <a:spLocks noGrp="1"/>
          </p:cNvSpPr>
          <p:nvPr/>
        </p:nvSpPr>
        <p:spPr>
          <a:xfrm>
            <a:off x="628650" y="14478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technical_strategy 是監督式學習的二元分類問題，最後再轉成持倉訊號。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E53A58-CFC1-48A2-BA44-97FA7B837F54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23812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770F16-ABDE-49A1-8F73-182D723B39B1}"/>
              </a:ext>
            </a:extLst>
          </p:cNvPr>
          <p:cNvSpPr>
            <a:spLocks noGrp="1"/>
          </p:cNvSpPr>
          <p:nvPr/>
        </p:nvSpPr>
        <p:spPr>
          <a:xfrm>
            <a:off x="933450" y="19812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Target label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46DF9F-BE0D-4331-BBC9-CEB72A13DBAA}"/>
              </a:ext>
            </a:extLst>
          </p:cNvPr>
          <p:cNvSpPr>
            <a:spLocks noGrp="1"/>
          </p:cNvSpPr>
          <p:nvPr/>
        </p:nvSpPr>
        <p:spPr>
          <a:xfrm>
            <a:off x="933450" y="2190750"/>
            <a:ext cx="2038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0A7C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0A7C7"/>
                </a:solidFill>
                <a:latin typeface="Aptos Display"/>
                <a:ea typeface="Aptos Display"/>
                <a:cs typeface="Aptos Display"/>
              </a:rPr>
              <a:t>target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B9BF42-0129-4E62-BAE9-617E070C8E2C}"/>
              </a:ext>
            </a:extLst>
          </p:cNvPr>
          <p:cNvSpPr>
            <a:spLocks noGrp="1"/>
          </p:cNvSpPr>
          <p:nvPr/>
        </p:nvSpPr>
        <p:spPr>
          <a:xfrm>
            <a:off x="933450" y="26289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700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1 = next Close &gt; </a:t>
            </a:r>
            <a:r>
              <a:rPr lang="af-ZA" sz="800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today</a:t>
            </a:r>
            <a:r>
              <a:rPr lang="af-ZA" sz="700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 Close；0 = otherwise</a:t>
            </a:r>
            <a:endParaRPr lang="af-ZA" altLang="zh-TW" sz="700" b="0">
              <a:solidFill>
                <a:srgbClr val="94A3B8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108456-CC64-471E-AAEE-8FBE3E3C8334}"/>
              </a:ext>
            </a:extLst>
          </p:cNvPr>
          <p:cNvSpPr>
            <a:spLocks noGrp="1"/>
          </p:cNvSpPr>
          <p:nvPr/>
        </p:nvSpPr>
        <p:spPr>
          <a:xfrm>
            <a:off x="3476625" y="1828800"/>
            <a:ext cx="23812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8ACD12-D73F-4D9B-92A1-DA133B641DDA}"/>
              </a:ext>
            </a:extLst>
          </p:cNvPr>
          <p:cNvSpPr>
            <a:spLocks noGrp="1"/>
          </p:cNvSpPr>
          <p:nvPr/>
        </p:nvSpPr>
        <p:spPr>
          <a:xfrm>
            <a:off x="3648075" y="19812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 output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BDE82B-FE0E-41A6-B75F-4641C1DEA98D}"/>
              </a:ext>
            </a:extLst>
          </p:cNvPr>
          <p:cNvSpPr>
            <a:spLocks noGrp="1"/>
          </p:cNvSpPr>
          <p:nvPr/>
        </p:nvSpPr>
        <p:spPr>
          <a:xfrm>
            <a:off x="3648075" y="2190750"/>
            <a:ext cx="2038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P(up)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916E4C-02D4-4087-968F-DBB59923AF19}"/>
              </a:ext>
            </a:extLst>
          </p:cNvPr>
          <p:cNvSpPr>
            <a:spLocks noGrp="1"/>
          </p:cNvSpPr>
          <p:nvPr/>
        </p:nvSpPr>
        <p:spPr>
          <a:xfrm>
            <a:off x="3648075" y="26289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800" b="0" err="1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模型輸出隔日上漲機率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C9CB9B-EDAA-4001-ABD9-79F254D5FCBA}"/>
              </a:ext>
            </a:extLst>
          </p:cNvPr>
          <p:cNvSpPr>
            <a:spLocks noGrp="1"/>
          </p:cNvSpPr>
          <p:nvPr/>
        </p:nvSpPr>
        <p:spPr>
          <a:xfrm>
            <a:off x="6191250" y="1828800"/>
            <a:ext cx="23812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78B379-6A9B-465E-BA15-87710A4080D5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Trading action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8F405A-CB87-462A-8C9C-39506C3880D4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2038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position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080A36-05F5-458B-8E2F-509703CA9EE1}"/>
              </a:ext>
            </a:extLst>
          </p:cNvPr>
          <p:cNvSpPr>
            <a:spLocks noGrp="1"/>
          </p:cNvSpPr>
          <p:nvPr/>
        </p:nvSpPr>
        <p:spPr>
          <a:xfrm>
            <a:off x="6362700" y="26289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800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P(up) </a:t>
            </a:r>
            <a:r>
              <a:rPr lang="zh-TW" altLang="en-US" sz="800" b="0" err="1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通過</a:t>
            </a:r>
            <a:r>
              <a:rPr lang="zh-TW" altLang="en-US" sz="800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 </a:t>
            </a:r>
            <a:r>
              <a:rPr lang="af-ZA" sz="800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threshold </a:t>
            </a:r>
            <a:r>
              <a:rPr lang="zh-TW" altLang="en-US" sz="800" b="0" err="1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才持有</a:t>
            </a:r>
            <a:endParaRPr lang="zh-TW" altLang="en-US" sz="800" b="0">
              <a:solidFill>
                <a:srgbClr val="94A3B8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61D6B2-D44C-49E9-A975-65AE6CBC1D9A}"/>
              </a:ext>
            </a:extLst>
          </p:cNvPr>
          <p:cNvSpPr>
            <a:spLocks noGrp="1"/>
          </p:cNvSpPr>
          <p:nvPr/>
        </p:nvSpPr>
        <p:spPr>
          <a:xfrm>
            <a:off x="8905875" y="1828800"/>
            <a:ext cx="23812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C7F8510-D3F6-4179-89BE-201E0F8477D5}"/>
              </a:ext>
            </a:extLst>
          </p:cNvPr>
          <p:cNvSpPr>
            <a:spLocks noGrp="1"/>
          </p:cNvSpPr>
          <p:nvPr/>
        </p:nvSpPr>
        <p:spPr>
          <a:xfrm>
            <a:off x="9077325" y="19812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Decision test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680D61F-8E40-4F9D-A29A-69FEF6A183DE}"/>
              </a:ext>
            </a:extLst>
          </p:cNvPr>
          <p:cNvSpPr>
            <a:spLocks noGrp="1"/>
          </p:cNvSpPr>
          <p:nvPr/>
        </p:nvSpPr>
        <p:spPr>
          <a:xfrm>
            <a:off x="9077325" y="2190750"/>
            <a:ext cx="2038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Backtest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27CD82D-3B4E-4874-84A0-21F700BAAD8B}"/>
              </a:ext>
            </a:extLst>
          </p:cNvPr>
          <p:cNvSpPr>
            <a:spLocks noGrp="1"/>
          </p:cNvSpPr>
          <p:nvPr/>
        </p:nvSpPr>
        <p:spPr>
          <a:xfrm>
            <a:off x="9077325" y="26289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800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用 </a:t>
            </a:r>
            <a:r>
              <a:rPr lang="af-ZA" sz="800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return / drawdown / Sharpe </a:t>
            </a:r>
            <a:r>
              <a:rPr lang="zh-TW" altLang="en-US" sz="800" b="0" err="1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評估</a:t>
            </a:r>
            <a:endParaRPr lang="zh-TW" altLang="en-US" sz="800" b="0">
              <a:solidFill>
                <a:srgbClr val="94A3B8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4DECC2-587E-4FF6-844C-E08613BD3891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43815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B4C47D7-F5F4-4DE4-A437-E496FE6ED2C5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66675" cy="1524000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13E8EAE-94E6-4459-A457-97FBEABF6A06}"/>
              </a:ext>
            </a:extLst>
          </p:cNvPr>
          <p:cNvSpPr>
            <a:spLocks noGrp="1"/>
          </p:cNvSpPr>
          <p:nvPr/>
        </p:nvSpPr>
        <p:spPr>
          <a:xfrm>
            <a:off x="990600" y="36957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問題定義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EF73E1-9747-4B2F-819E-D198496D2ACD}"/>
              </a:ext>
            </a:extLst>
          </p:cNvPr>
          <p:cNvSpPr>
            <a:spLocks noGrp="1"/>
          </p:cNvSpPr>
          <p:nvPr/>
        </p:nvSpPr>
        <p:spPr>
          <a:xfrm>
            <a:off x="990600" y="4038600"/>
            <a:ext cx="4000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使用台積電歷史股價與技術指標，預測下一個交易日收盤價是否高於今天收盤價。這讓問題可以被轉成 supervised binary classification。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8CD62B9-A256-4919-B95B-8EAD8CC57557}"/>
              </a:ext>
            </a:extLst>
          </p:cNvPr>
          <p:cNvSpPr>
            <a:spLocks noGrp="1"/>
          </p:cNvSpPr>
          <p:nvPr/>
        </p:nvSpPr>
        <p:spPr>
          <a:xfrm>
            <a:off x="5695950" y="3524250"/>
            <a:ext cx="44196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51AFE9-D845-416F-A182-0298493CCC29}"/>
              </a:ext>
            </a:extLst>
          </p:cNvPr>
          <p:cNvSpPr>
            <a:spLocks noGrp="1"/>
          </p:cNvSpPr>
          <p:nvPr/>
        </p:nvSpPr>
        <p:spPr>
          <a:xfrm>
            <a:off x="5695950" y="3524250"/>
            <a:ext cx="66675" cy="152400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AAD96BA-DA3A-426A-AF20-8760C1F79272}"/>
              </a:ext>
            </a:extLst>
          </p:cNvPr>
          <p:cNvSpPr>
            <a:spLocks noGrp="1"/>
          </p:cNvSpPr>
          <p:nvPr/>
        </p:nvSpPr>
        <p:spPr>
          <a:xfrm>
            <a:off x="5905500" y="3695700"/>
            <a:ext cx="403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為什麼不能只看 accuracy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5E8FB51-8D20-4378-AA4B-A37BCD722E03}"/>
              </a:ext>
            </a:extLst>
          </p:cNvPr>
          <p:cNvSpPr>
            <a:spLocks noGrp="1"/>
          </p:cNvSpPr>
          <p:nvPr/>
        </p:nvSpPr>
        <p:spPr>
          <a:xfrm>
            <a:off x="5905500" y="4038600"/>
            <a:ext cx="40386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金融資料高雜訊，猜對方向不等於會賺錢。錯誤若發生在大跌時、交易太頻繁或回撤太大，策略仍可能失敗。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0DCAAD2-D3EC-4B38-BAD4-98AE2DF40710}"/>
              </a:ext>
            </a:extLst>
          </p:cNvPr>
          <p:cNvSpPr>
            <a:spLocks noGrp="1"/>
          </p:cNvSpPr>
          <p:nvPr/>
        </p:nvSpPr>
        <p:spPr>
          <a:xfrm>
            <a:off x="895350" y="5419725"/>
            <a:ext cx="85725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09F891-7A24-4586-8E43-55CD5C636085}"/>
              </a:ext>
            </a:extLst>
          </p:cNvPr>
          <p:cNvSpPr>
            <a:spLocks noGrp="1"/>
          </p:cNvSpPr>
          <p:nvPr/>
        </p:nvSpPr>
        <p:spPr>
          <a:xfrm>
            <a:off x="1104900" y="53530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250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專案重點</a:t>
            </a:r>
            <a:r>
              <a:rPr lang="zh-TW" altLang="en-US" sz="1250" b="0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：模型預測能力 </a:t>
            </a:r>
            <a:r>
              <a:rPr lang="en-US" altLang="zh-TW" sz="1250" b="0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+ </a:t>
            </a:r>
            <a:r>
              <a:rPr lang="zh-TW" altLang="en-US" sz="1250" b="0" err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交易策略能力要一起評估</a:t>
            </a:r>
            <a:r>
              <a:rPr lang="zh-TW" altLang="en-US" sz="1250" b="0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74AEF7A-C1C8-423E-AC3D-87DD9A95DB6E}"/>
              </a:ext>
            </a:extLst>
          </p:cNvPr>
          <p:cNvSpPr>
            <a:spLocks noGrp="1"/>
          </p:cNvSpPr>
          <p:nvPr/>
        </p:nvSpPr>
        <p:spPr>
          <a:xfrm>
            <a:off x="895350" y="5819775"/>
            <a:ext cx="85725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71D770E-8F48-4C98-ACE6-ECB32CEBE765}"/>
              </a:ext>
            </a:extLst>
          </p:cNvPr>
          <p:cNvSpPr>
            <a:spLocks noGrp="1"/>
          </p:cNvSpPr>
          <p:nvPr/>
        </p:nvSpPr>
        <p:spPr>
          <a:xfrm>
            <a:off x="1104900" y="575310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0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成功標準：test set 上能提供比 Buy &amp; Hold 更有解釋力的績效或風險改善。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6101417-576F-4DC9-A52E-7B9FC8895ED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NCCU Data Science Final Project · technical_strategy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E56F8F9-8497-409A-A5AB-CD04E2F1021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7536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BF462942-4CFC-474D-BEA0-DFD1E41E6D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66315E-5E14-49A5-87CD-F82A6C6E9C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1AEE95-197C-4119-AD46-E27AF1CCCB3F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1E5934-F2A1-4836-9E9E-AC5AF9E474E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36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36A7A"/>
                </a:solidFill>
                <a:latin typeface="Aptos"/>
                <a:ea typeface="Aptos"/>
                <a:cs typeface="Aptos"/>
              </a:rPr>
              <a:t>2 / INPUT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174C43-FCD9-4728-A3B4-A7A0B647CD7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3200" b="1">
                <a:solidFill>
                  <a:srgbClr val="2C3E50"/>
                </a:solidFill>
                <a:latin typeface="Noto Sans TC"/>
                <a:ea typeface="Microsoft JhengHei UI"/>
              </a:rPr>
              <a:t>資料來源</a:t>
            </a:r>
            <a:br>
              <a:rPr lang="en-US"/>
            </a:b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2F302C-BE4F-4DE0-A185-6F55678AAF23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809750" cy="971550"/>
          </a:xfrm>
          <a:prstGeom prst="rect">
            <a:avLst/>
          </a:prstGeom>
          <a:solidFill>
            <a:srgbClr val="E0E7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BBFBB5-7B59-4C4F-A82C-8F9F42580236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User settings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1CF930-9358-4E42-A722-1F01C8768FA1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1581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ticker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start / end date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validation / test ratio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E00596-F086-47CC-A2C2-0FA18AAFDFB3}"/>
              </a:ext>
            </a:extLst>
          </p:cNvPr>
          <p:cNvSpPr>
            <a:spLocks noGrp="1"/>
          </p:cNvSpPr>
          <p:nvPr/>
        </p:nvSpPr>
        <p:spPr>
          <a:xfrm>
            <a:off x="2533650" y="2466975"/>
            <a:ext cx="60960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B1B729-BC15-49B6-B2A7-B745302CC81B}"/>
              </a:ext>
            </a:extLst>
          </p:cNvPr>
          <p:cNvSpPr>
            <a:spLocks noGrp="1"/>
          </p:cNvSpPr>
          <p:nvPr/>
        </p:nvSpPr>
        <p:spPr>
          <a:xfrm>
            <a:off x="3057525" y="2409825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E846BE-A68B-422A-94D5-5C4AF259D1C5}"/>
              </a:ext>
            </a:extLst>
          </p:cNvPr>
          <p:cNvSpPr>
            <a:spLocks noGrp="1"/>
          </p:cNvSpPr>
          <p:nvPr/>
        </p:nvSpPr>
        <p:spPr>
          <a:xfrm>
            <a:off x="3143250" y="2000250"/>
            <a:ext cx="1809750" cy="971550"/>
          </a:xfrm>
          <a:prstGeom prst="rect">
            <a:avLst/>
          </a:prstGeom>
          <a:solidFill>
            <a:srgbClr val="DBF4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D7EB47-7043-4A77-9980-72574540ABB0}"/>
              </a:ext>
            </a:extLst>
          </p:cNvPr>
          <p:cNvSpPr>
            <a:spLocks noGrp="1"/>
          </p:cNvSpPr>
          <p:nvPr/>
        </p:nvSpPr>
        <p:spPr>
          <a:xfrm>
            <a:off x="3257550" y="213360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Yahoo Finance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AF1644-B236-4005-895D-9097A44E6F10}"/>
              </a:ext>
            </a:extLst>
          </p:cNvPr>
          <p:cNvSpPr>
            <a:spLocks noGrp="1"/>
          </p:cNvSpPr>
          <p:nvPr/>
        </p:nvSpPr>
        <p:spPr>
          <a:xfrm>
            <a:off x="3257550" y="2400300"/>
            <a:ext cx="1581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yfinance download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Open High Low Close Volume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271AE6-19A8-4562-8571-1C541C416459}"/>
              </a:ext>
            </a:extLst>
          </p:cNvPr>
          <p:cNvSpPr>
            <a:spLocks noGrp="1"/>
          </p:cNvSpPr>
          <p:nvPr/>
        </p:nvSpPr>
        <p:spPr>
          <a:xfrm>
            <a:off x="4953000" y="2466975"/>
            <a:ext cx="60960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3775DC-9CD3-4057-B58E-B4CD0CA845EF}"/>
              </a:ext>
            </a:extLst>
          </p:cNvPr>
          <p:cNvSpPr>
            <a:spLocks noGrp="1"/>
          </p:cNvSpPr>
          <p:nvPr/>
        </p:nvSpPr>
        <p:spPr>
          <a:xfrm>
            <a:off x="5476875" y="2409825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24B32B-A792-4843-BBA2-D11ED433829E}"/>
              </a:ext>
            </a:extLst>
          </p:cNvPr>
          <p:cNvSpPr>
            <a:spLocks noGrp="1"/>
          </p:cNvSpPr>
          <p:nvPr/>
        </p:nvSpPr>
        <p:spPr>
          <a:xfrm>
            <a:off x="5562600" y="2000250"/>
            <a:ext cx="1809750" cy="971550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7BD95E-9ECE-4B8F-9AA3-AE15558D5247}"/>
              </a:ext>
            </a:extLst>
          </p:cNvPr>
          <p:cNvSpPr>
            <a:spLocks noGrp="1"/>
          </p:cNvSpPr>
          <p:nvPr/>
        </p:nvSpPr>
        <p:spPr>
          <a:xfrm>
            <a:off x="5676900" y="213360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Clean data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D97717-F93B-41F5-9237-1617253399FC}"/>
              </a:ext>
            </a:extLst>
          </p:cNvPr>
          <p:cNvSpPr>
            <a:spLocks noGrp="1"/>
          </p:cNvSpPr>
          <p:nvPr/>
        </p:nvSpPr>
        <p:spPr>
          <a:xfrm>
            <a:off x="5676900" y="2400300"/>
            <a:ext cx="1581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replace inf with NaN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drop missing rows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DCF86A-5D78-48CF-A967-E37938AD8B7C}"/>
              </a:ext>
            </a:extLst>
          </p:cNvPr>
          <p:cNvSpPr>
            <a:spLocks noGrp="1"/>
          </p:cNvSpPr>
          <p:nvPr/>
        </p:nvSpPr>
        <p:spPr>
          <a:xfrm>
            <a:off x="7372350" y="2466975"/>
            <a:ext cx="60960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0AD368-B099-41BD-A0CD-2239B4DA147C}"/>
              </a:ext>
            </a:extLst>
          </p:cNvPr>
          <p:cNvSpPr>
            <a:spLocks noGrp="1"/>
          </p:cNvSpPr>
          <p:nvPr/>
        </p:nvSpPr>
        <p:spPr>
          <a:xfrm>
            <a:off x="7896225" y="2409825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947387-39C4-48D9-93ED-84B28728503C}"/>
              </a:ext>
            </a:extLst>
          </p:cNvPr>
          <p:cNvSpPr>
            <a:spLocks noGrp="1"/>
          </p:cNvSpPr>
          <p:nvPr/>
        </p:nvSpPr>
        <p:spPr>
          <a:xfrm>
            <a:off x="7981950" y="2000250"/>
            <a:ext cx="1809750" cy="971550"/>
          </a:xfrm>
          <a:prstGeom prst="rect">
            <a:avLst/>
          </a:prstGeom>
          <a:solidFill>
            <a:srgbClr val="FEF3C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8616EAA-370B-4B2B-B639-1337956D5433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Train table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F350F43-11C5-47DB-9343-CB5BEB21E624}"/>
              </a:ext>
            </a:extLst>
          </p:cNvPr>
          <p:cNvSpPr>
            <a:spLocks noGrp="1"/>
          </p:cNvSpPr>
          <p:nvPr/>
        </p:nvSpPr>
        <p:spPr>
          <a:xfrm>
            <a:off x="8096250" y="2400300"/>
            <a:ext cx="1581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features + target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chronological order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3341267-1419-4F52-8520-4B2D367C6F5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NCCU Data Science Final Project · technical_strategy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71CF4CA-D362-4746-BB25-34F71DF8471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E256CCB4-B232-0A9D-A3AD-EB620460C2D4}"/>
              </a:ext>
            </a:extLst>
          </p:cNvPr>
          <p:cNvSpPr txBox="1"/>
          <p:nvPr/>
        </p:nvSpPr>
        <p:spPr>
          <a:xfrm>
            <a:off x="719667" y="3429000"/>
            <a:ext cx="986366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1500" b="1">
                <a:solidFill>
                  <a:srgbClr val="2980B9"/>
                </a:solidFill>
                <a:latin typeface="Noto Sans TC"/>
                <a:ea typeface="Noto Sans TC"/>
                <a:cs typeface="Noto Sans TC"/>
              </a:rPr>
              <a:t>資料來源</a:t>
            </a:r>
            <a:r>
              <a:rPr lang="en-US" sz="1500" b="1" i="0" u="none" strike="noStrike">
                <a:solidFill>
                  <a:srgbClr val="2980B9"/>
                </a:solidFill>
                <a:latin typeface="Noto Sans TC"/>
                <a:ea typeface="Noto Sans TC"/>
                <a:cs typeface="Noto Sans TC"/>
              </a:rPr>
              <a:t> (Data Source)：</a:t>
            </a:r>
            <a:r>
              <a:rPr lang="en-US" sz="1500" b="0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500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採用</a:t>
            </a:r>
            <a:r>
              <a:rPr lang="en-US" sz="1500" b="0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 Yahoo Finance 作為核心資料庫。其為全球最大、</a:t>
            </a:r>
            <a:r>
              <a:rPr lang="zh-TW" altLang="en-US" sz="1500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最穩定的開源金融數據平台之一</a:t>
            </a:r>
            <a:r>
              <a:rPr lang="en-US" sz="1500" b="0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，無論是資料的覆蓋廣度或準確度，皆具備極高的實務標準。</a:t>
            </a:r>
          </a:p>
          <a:p>
            <a:endParaRPr lang="en-US" altLang="zh-TW"/>
          </a:p>
          <a:p>
            <a:pPr algn="ctr"/>
            <a:endParaRPr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78F5AA92-DEEA-E621-D8B5-903F62E581C0}"/>
              </a:ext>
            </a:extLst>
          </p:cNvPr>
          <p:cNvSpPr txBox="1"/>
          <p:nvPr/>
        </p:nvSpPr>
        <p:spPr>
          <a:xfrm>
            <a:off x="719667" y="4258734"/>
            <a:ext cx="1004993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1500" b="1">
                <a:solidFill>
                  <a:srgbClr val="2980B9"/>
                </a:solidFill>
                <a:latin typeface="Noto Sans TC"/>
                <a:ea typeface="Noto Sans TC"/>
                <a:cs typeface="Noto Sans TC"/>
              </a:rPr>
              <a:t>串接套件</a:t>
            </a:r>
            <a:r>
              <a:rPr lang="en-US" sz="1500" b="1" i="0" u="none" strike="noStrike">
                <a:solidFill>
                  <a:srgbClr val="2980B9"/>
                </a:solidFill>
                <a:latin typeface="Noto Sans TC"/>
                <a:ea typeface="Noto Sans TC"/>
                <a:cs typeface="Noto Sans TC"/>
              </a:rPr>
              <a:t> (API Integration)：</a:t>
            </a:r>
            <a:r>
              <a:rPr lang="en-US" sz="1500" b="0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zh-TW" altLang="en-US" sz="1500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本專案運用</a:t>
            </a:r>
            <a:r>
              <a:rPr lang="en-US" sz="1500" b="0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 Python 的 </a:t>
            </a:r>
            <a:r>
              <a:rPr lang="en-US" sz="1500" b="0" i="0" u="none" strike="noStrike" err="1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yfinance</a:t>
            </a:r>
            <a:r>
              <a:rPr lang="en-US" sz="1500" b="0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lang="en-US" sz="1500" b="0" i="0" u="none" strike="noStrike" err="1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模組進行</a:t>
            </a:r>
            <a:r>
              <a:rPr lang="en-US" sz="1500" b="0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 API </a:t>
            </a:r>
            <a:r>
              <a:rPr lang="en-US" sz="1500" b="0" i="0" u="none" strike="noStrike" err="1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自動化爬取，透過程式碼無縫向伺服器請求歷史價格</a:t>
            </a:r>
            <a:r>
              <a:rPr lang="en-US" sz="1500" b="0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。</a:t>
            </a:r>
          </a:p>
          <a:p>
            <a:endParaRPr lang="en-US" altLang="zh-TW"/>
          </a:p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83EC840-B8B9-1076-ADA6-075A4A51FE21}"/>
              </a:ext>
            </a:extLst>
          </p:cNvPr>
          <p:cNvSpPr txBox="1"/>
          <p:nvPr/>
        </p:nvSpPr>
        <p:spPr>
          <a:xfrm>
            <a:off x="725964" y="5020733"/>
            <a:ext cx="1004993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1500" b="1">
                <a:solidFill>
                  <a:srgbClr val="2980B9"/>
                </a:solidFill>
                <a:latin typeface="Noto Sans TC"/>
              </a:rPr>
              <a:t>資料清理</a:t>
            </a:r>
            <a:r>
              <a:rPr lang="en-US" sz="1500" b="1">
                <a:solidFill>
                  <a:srgbClr val="2980B9"/>
                </a:solidFill>
                <a:latin typeface="Noto Sans TC"/>
              </a:rPr>
              <a:t> (Data cleaning)：</a:t>
            </a:r>
            <a:r>
              <a:rPr lang="zh-TW" altLang="en-US" sz="1500">
                <a:solidFill>
                  <a:srgbClr val="34495E"/>
                </a:solidFill>
                <a:latin typeface="Noto Sans TC"/>
              </a:rPr>
              <a:t>將異常值統一轉換為</a:t>
            </a:r>
            <a:r>
              <a:rPr lang="en-US" sz="1500">
                <a:solidFill>
                  <a:srgbClr val="34495E"/>
                </a:solidFill>
                <a:latin typeface="Noto Sans TC"/>
              </a:rPr>
              <a:t> </a:t>
            </a:r>
            <a:r>
              <a:rPr lang="en-US" sz="1500" err="1">
                <a:solidFill>
                  <a:srgbClr val="34495E"/>
                </a:solidFill>
                <a:latin typeface="Noto Sans TC"/>
              </a:rPr>
              <a:t>NaN</a:t>
            </a:r>
            <a:r>
              <a:rPr lang="en-US" sz="1500">
                <a:solidFill>
                  <a:srgbClr val="34495E"/>
                </a:solidFill>
                <a:latin typeface="Noto Sans TC"/>
              </a:rPr>
              <a:t>，</a:t>
            </a:r>
            <a:r>
              <a:rPr lang="zh-TW" altLang="en-US" sz="1500">
                <a:solidFill>
                  <a:srgbClr val="34495E"/>
                </a:solidFill>
                <a:latin typeface="Noto Sans TC"/>
              </a:rPr>
              <a:t>並精準剔除含有缺失資料的交易日</a:t>
            </a:r>
            <a:r>
              <a:rPr lang="en-US" sz="1500">
                <a:solidFill>
                  <a:srgbClr val="34495E"/>
                </a:solidFill>
                <a:latin typeface="Noto Sans TC"/>
              </a:rPr>
              <a:t>，</a:t>
            </a:r>
            <a:r>
              <a:rPr lang="zh-TW" altLang="en-US" sz="1500">
                <a:solidFill>
                  <a:srgbClr val="34495E"/>
                </a:solidFill>
                <a:latin typeface="Noto Sans TC"/>
              </a:rPr>
              <a:t>確保餵入模型的每一筆特徵皆具備</a:t>
            </a:r>
            <a:r>
              <a:rPr lang="en-US" sz="1500">
                <a:solidFill>
                  <a:srgbClr val="34495E"/>
                </a:solidFill>
                <a:latin typeface="Noto Sans TC"/>
              </a:rPr>
              <a:t> 100% </a:t>
            </a:r>
            <a:r>
              <a:rPr lang="zh-TW" altLang="en-US" sz="1500">
                <a:solidFill>
                  <a:srgbClr val="34495E"/>
                </a:solidFill>
                <a:latin typeface="Noto Sans TC"/>
              </a:rPr>
              <a:t>的完整性</a:t>
            </a:r>
            <a:r>
              <a:rPr lang="en-US" sz="1500">
                <a:solidFill>
                  <a:srgbClr val="34495E"/>
                </a:solidFill>
                <a:latin typeface="Noto Sans TC"/>
              </a:rPr>
              <a:t>。</a:t>
            </a:r>
          </a:p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901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F2710BE8-50BC-4ECF-9E90-BBE531429C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34FDFC-6A45-45A4-8567-50CD31AC23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51FBA2-9A54-4E6F-913C-3CBED87E3E3D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DD31B4-F5BB-47C5-82B1-ACF42EB0E48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36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36A7A"/>
                </a:solidFill>
                <a:latin typeface="Aptos"/>
                <a:ea typeface="Aptos"/>
                <a:cs typeface="Aptos"/>
              </a:rPr>
              <a:t>2 / INPUT CONTINUED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6AB5AB-E203-4B1A-AD2D-0F1112F81CD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特徵工程：把價格資料轉成模型可學習的技術指標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480EAD5-D450-4A9D-A8DE-E9D34807FC4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NCCU Data Science Final Project · technical_strategy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CB60FA-97EF-4D9B-BFCE-311E2FDEE147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338FAB6-A91B-EF2D-6945-7B4F0343F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04159"/>
              </p:ext>
            </p:extLst>
          </p:nvPr>
        </p:nvGraphicFramePr>
        <p:xfrm>
          <a:off x="610860" y="1797785"/>
          <a:ext cx="10698858" cy="2209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83143">
                  <a:extLst>
                    <a:ext uri="{9D8B030D-6E8A-4147-A177-3AD203B41FA5}">
                      <a16:colId xmlns:a16="http://schemas.microsoft.com/office/drawing/2014/main" val="3095095363"/>
                    </a:ext>
                  </a:extLst>
                </a:gridCol>
                <a:gridCol w="1783143">
                  <a:extLst>
                    <a:ext uri="{9D8B030D-6E8A-4147-A177-3AD203B41FA5}">
                      <a16:colId xmlns:a16="http://schemas.microsoft.com/office/drawing/2014/main" val="3886510951"/>
                    </a:ext>
                  </a:extLst>
                </a:gridCol>
                <a:gridCol w="1783143">
                  <a:extLst>
                    <a:ext uri="{9D8B030D-6E8A-4147-A177-3AD203B41FA5}">
                      <a16:colId xmlns:a16="http://schemas.microsoft.com/office/drawing/2014/main" val="2846682012"/>
                    </a:ext>
                  </a:extLst>
                </a:gridCol>
                <a:gridCol w="1783143">
                  <a:extLst>
                    <a:ext uri="{9D8B030D-6E8A-4147-A177-3AD203B41FA5}">
                      <a16:colId xmlns:a16="http://schemas.microsoft.com/office/drawing/2014/main" val="2855916574"/>
                    </a:ext>
                  </a:extLst>
                </a:gridCol>
                <a:gridCol w="1783143">
                  <a:extLst>
                    <a:ext uri="{9D8B030D-6E8A-4147-A177-3AD203B41FA5}">
                      <a16:colId xmlns:a16="http://schemas.microsoft.com/office/drawing/2014/main" val="166987858"/>
                    </a:ext>
                  </a:extLst>
                </a:gridCol>
                <a:gridCol w="1783143">
                  <a:extLst>
                    <a:ext uri="{9D8B030D-6E8A-4147-A177-3AD203B41FA5}">
                      <a16:colId xmlns:a16="http://schemas.microsoft.com/office/drawing/2014/main" val="1224277445"/>
                    </a:ext>
                  </a:extLst>
                </a:gridCol>
              </a:tblGrid>
              <a:tr h="36826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zh-TW" sz="1500" b="1" i="0" u="none" strike="noStrike">
                          <a:solidFill>
                            <a:srgbClr val="2C3E50"/>
                          </a:solidFill>
                          <a:effectLst/>
                          <a:latin typeface="Noto Sans TC"/>
                        </a:rPr>
                        <a:t>Date (日期)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500" b="1" i="0" u="none" strike="noStrike">
                          <a:solidFill>
                            <a:srgbClr val="2C3E50"/>
                          </a:solidFill>
                          <a:effectLst/>
                          <a:latin typeface="Noto Sans TC"/>
                        </a:rPr>
                        <a:t>Open (開盤價)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500" b="1" i="0" u="none" strike="noStrike">
                          <a:solidFill>
                            <a:srgbClr val="2C3E50"/>
                          </a:solidFill>
                          <a:effectLst/>
                          <a:latin typeface="Noto Sans TC"/>
                        </a:rPr>
                        <a:t>High (最高價)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500" b="1" i="0" u="none" strike="noStrike">
                          <a:solidFill>
                            <a:srgbClr val="2C3E50"/>
                          </a:solidFill>
                          <a:effectLst/>
                          <a:latin typeface="Noto Sans TC"/>
                        </a:rPr>
                        <a:t>Low (最低價)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500" b="1" i="0" u="none" strike="noStrike">
                          <a:solidFill>
                            <a:srgbClr val="2C3E50"/>
                          </a:solidFill>
                          <a:effectLst/>
                          <a:latin typeface="Noto Sans TC"/>
                        </a:rPr>
                        <a:t>Close (收盤價)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500" b="1" i="0" u="none" strike="noStrike">
                          <a:solidFill>
                            <a:srgbClr val="2C3E50"/>
                          </a:solidFill>
                          <a:effectLst/>
                          <a:latin typeface="Noto Sans TC"/>
                        </a:rPr>
                        <a:t>Volume (成交量)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77209"/>
                  </a:ext>
                </a:extLst>
              </a:tr>
              <a:tr h="36826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2024-01-02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590.00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593.00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589.00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593.00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26,115,200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964796"/>
                  </a:ext>
                </a:extLst>
              </a:tr>
              <a:tr h="36826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2024-01-03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584.00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585.00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577.00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578.00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37,640,000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857533"/>
                  </a:ext>
                </a:extLst>
              </a:tr>
              <a:tr h="36826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2024-01-04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580.00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581.00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577.00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580.00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 panose="00000500000000000000" pitchFamily="2" charset="0"/>
                        </a:rPr>
                        <a:t>22,253,300</a:t>
                      </a:r>
                      <a:endParaRPr lang="zh-TW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603302"/>
                  </a:ext>
                </a:extLst>
              </a:tr>
              <a:tr h="368260"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2024-01-05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580.00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581.00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575.00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576.00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24,460,900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289487"/>
                  </a:ext>
                </a:extLst>
              </a:tr>
              <a:tr h="368260"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2024-01-08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582.00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585.00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580.00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583.00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34495E"/>
                          </a:solidFill>
                          <a:effectLst/>
                          <a:latin typeface="Poppins"/>
                        </a:rPr>
                        <a:t>20,131,200</a:t>
                      </a:r>
                      <a:endParaRPr lang="zh-TW">
                        <a:effectLst/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262630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7A924DFE-004D-62C9-7D6B-E82650F43E95}"/>
              </a:ext>
            </a:extLst>
          </p:cNvPr>
          <p:cNvSpPr txBox="1"/>
          <p:nvPr/>
        </p:nvSpPr>
        <p:spPr>
          <a:xfrm>
            <a:off x="528991" y="1161892"/>
            <a:ext cx="11140314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0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透過自動化 API 擷取的原始股價結構為</a:t>
            </a:r>
            <a:r>
              <a:rPr lang="en-US" sz="1500" b="1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「每日交易頻率 (Daily Frequency)」</a:t>
            </a:r>
            <a:r>
              <a:rPr lang="en-US" sz="1500" b="0" i="0" u="none" strike="noStrike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。以下為抓取至系統記憶體後，原始資料表 (Dataframe) 包含五大核心屬性的前五筆預覽樣貌：</a:t>
            </a:r>
          </a:p>
          <a:p>
            <a:endParaRPr lang="en-US" altLang="zh-TW"/>
          </a:p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E331FF-2851-D51A-B285-1AD4B51BAF98}"/>
              </a:ext>
            </a:extLst>
          </p:cNvPr>
          <p:cNvSpPr txBox="1"/>
          <p:nvPr/>
        </p:nvSpPr>
        <p:spPr>
          <a:xfrm>
            <a:off x="528992" y="4140620"/>
            <a:ext cx="10995471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i="0" u="none" strike="noStrike" dirty="0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💡 </a:t>
            </a:r>
            <a:r>
              <a:rPr lang="zh-TW" altLang="en-US" sz="1500" dirty="0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模型不會僅依賴上表五個數字進行預測</a:t>
            </a:r>
            <a:r>
              <a:rPr lang="en-US" sz="1500" b="0" i="0" u="none" strike="noStrike" dirty="0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。</a:t>
            </a:r>
            <a:r>
              <a:rPr lang="en-US" sz="1500" b="0" i="0" u="none" strike="noStrike" dirty="0" err="1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這些基礎</a:t>
            </a:r>
            <a:r>
              <a:rPr lang="en-US" sz="1500" b="0" i="0" u="none" strike="noStrike" dirty="0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 OHLCV </a:t>
            </a:r>
            <a:r>
              <a:rPr lang="zh-TW" altLang="en-US" sz="1500" dirty="0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欄</a:t>
            </a:r>
            <a:r>
              <a:rPr lang="zh-TW" altLang="en-US" sz="1500" dirty="0">
                <a:solidFill>
                  <a:srgbClr val="34495E"/>
                </a:solidFill>
                <a:latin typeface="Noto Sans TC"/>
              </a:rPr>
              <a:t>位將計算並衍生出 </a:t>
            </a:r>
            <a:r>
              <a:rPr lang="en-US" altLang="zh-TW" sz="1500" dirty="0">
                <a:solidFill>
                  <a:srgbClr val="34495E"/>
                </a:solidFill>
                <a:latin typeface="Noto Sans TC"/>
              </a:rPr>
              <a:t>11</a:t>
            </a:r>
            <a:r>
              <a:rPr lang="zh-TW" altLang="en-US" sz="1500" dirty="0">
                <a:solidFill>
                  <a:srgbClr val="34495E"/>
                </a:solidFill>
                <a:latin typeface="Noto Sans TC"/>
              </a:rPr>
              <a:t> 個技術指標特徵</a:t>
            </a:r>
            <a:r>
              <a:rPr lang="en-US" sz="1500" b="0" i="0" u="none" strike="noStrike" dirty="0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，</a:t>
            </a:r>
            <a:r>
              <a:rPr lang="en-US" sz="1500" b="0" i="0" u="none" strike="noStrike" dirty="0" err="1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賦予模型更深層的市場解讀能力</a:t>
            </a:r>
            <a:r>
              <a:rPr lang="en-US" sz="1500" b="0" i="0" u="none" strike="noStrike" dirty="0">
                <a:solidFill>
                  <a:srgbClr val="34495E"/>
                </a:solidFill>
                <a:latin typeface="Noto Sans TC"/>
                <a:ea typeface="Noto Sans TC"/>
                <a:cs typeface="Noto Sans TC"/>
              </a:rPr>
              <a:t>。</a:t>
            </a:r>
            <a:endParaRPr lang="en-US" altLang="zh-TW" dirty="0"/>
          </a:p>
          <a:p>
            <a:endParaRPr lang="en-US" altLang="zh-TW" sz="1500">
              <a:solidFill>
                <a:srgbClr val="34495E"/>
              </a:solidFill>
              <a:latin typeface="Noto Sans TC"/>
            </a:endParaRPr>
          </a:p>
          <a:p>
            <a:pPr marL="285750" indent="-285750">
              <a:buFont typeface="Arial"/>
              <a:buChar char="•"/>
            </a:pPr>
            <a:r>
              <a:rPr lang="en-US" sz="1500" dirty="0">
                <a:solidFill>
                  <a:srgbClr val="34495E"/>
                </a:solidFill>
                <a:latin typeface="Noto Sans TC"/>
              </a:rPr>
              <a:t>ma_5 (5 </a:t>
            </a:r>
            <a:r>
              <a:rPr lang="en-US" sz="1500" dirty="0" err="1">
                <a:solidFill>
                  <a:srgbClr val="34495E"/>
                </a:solidFill>
                <a:latin typeface="Noto Sans TC"/>
              </a:rPr>
              <a:t>日移動平均線</a:t>
            </a:r>
            <a:r>
              <a:rPr lang="en-US" sz="1500" dirty="0">
                <a:solidFill>
                  <a:srgbClr val="34495E"/>
                </a:solidFill>
                <a:latin typeface="Noto Sans TC"/>
              </a:rPr>
              <a:t>)：</a:t>
            </a:r>
            <a:r>
              <a:rPr lang="en-US" sz="1500" dirty="0" err="1">
                <a:solidFill>
                  <a:srgbClr val="34495E"/>
                </a:solidFill>
                <a:latin typeface="Noto Sans TC"/>
              </a:rPr>
              <a:t>過去</a:t>
            </a:r>
            <a:r>
              <a:rPr lang="en-US" sz="1500" dirty="0">
                <a:solidFill>
                  <a:srgbClr val="34495E"/>
                </a:solidFill>
                <a:latin typeface="Noto Sans TC"/>
              </a:rPr>
              <a:t> 5 </a:t>
            </a:r>
            <a:r>
              <a:rPr lang="en-US" sz="1500" dirty="0" err="1">
                <a:solidFill>
                  <a:srgbClr val="34495E"/>
                </a:solidFill>
                <a:latin typeface="Noto Sans TC"/>
              </a:rPr>
              <a:t>天收盤價的平均值（短期趨勢</a:t>
            </a:r>
            <a:r>
              <a:rPr lang="en-US" sz="1500" dirty="0">
                <a:solidFill>
                  <a:srgbClr val="34495E"/>
                </a:solidFill>
                <a:latin typeface="Noto Sans TC"/>
              </a:rPr>
              <a:t>）。</a:t>
            </a:r>
            <a:endParaRPr lang="en-US" altLang="zh-TW" sz="1500" dirty="0">
              <a:solidFill>
                <a:srgbClr val="34495E"/>
              </a:solidFill>
              <a:latin typeface="Noto Sans TC"/>
            </a:endParaRPr>
          </a:p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34495E"/>
                </a:solidFill>
                <a:latin typeface="Noto Sans TC"/>
              </a:rPr>
              <a:t>bias_5 (5</a:t>
            </a:r>
            <a:r>
              <a:rPr lang="en-US" altLang="zh-TW" sz="1500">
                <a:solidFill>
                  <a:srgbClr val="34495E"/>
                </a:solidFill>
                <a:latin typeface="Noto Sans TC"/>
              </a:rPr>
              <a:t> </a:t>
            </a:r>
            <a:r>
              <a:rPr lang="zh-TW" altLang="en-US" sz="1500">
                <a:solidFill>
                  <a:srgbClr val="34495E"/>
                </a:solidFill>
                <a:latin typeface="Noto Sans TC"/>
              </a:rPr>
              <a:t>日乖離率</a:t>
            </a:r>
            <a:r>
              <a:rPr lang="en-US" sz="1500">
                <a:solidFill>
                  <a:srgbClr val="34495E"/>
                </a:solidFill>
                <a:latin typeface="Noto Sans TC"/>
              </a:rPr>
              <a:t>)</a:t>
            </a:r>
            <a:r>
              <a:rPr lang="zh-TW" altLang="en-US" sz="1500">
                <a:solidFill>
                  <a:srgbClr val="34495E"/>
                </a:solidFill>
                <a:latin typeface="Noto Sans TC"/>
              </a:rPr>
              <a:t>：今天收盤價相對於</a:t>
            </a:r>
            <a:r>
              <a:rPr lang="en-US" sz="1500">
                <a:solidFill>
                  <a:srgbClr val="34495E"/>
                </a:solidFill>
                <a:latin typeface="Noto Sans TC"/>
              </a:rPr>
              <a:t> 5</a:t>
            </a:r>
            <a:r>
              <a:rPr lang="en-US" altLang="zh-TW" sz="1500">
                <a:solidFill>
                  <a:srgbClr val="34495E"/>
                </a:solidFill>
                <a:latin typeface="Noto Sans TC"/>
              </a:rPr>
              <a:t> </a:t>
            </a:r>
            <a:r>
              <a:rPr lang="zh-TW" altLang="en-US" sz="1500">
                <a:solidFill>
                  <a:srgbClr val="34495E"/>
                </a:solidFill>
                <a:latin typeface="Noto Sans TC"/>
              </a:rPr>
              <a:t>日均線的距離（差距百分比</a:t>
            </a:r>
            <a:r>
              <a:rPr lang="en-US" sz="1500">
                <a:solidFill>
                  <a:srgbClr val="34495E"/>
                </a:solidFill>
                <a:latin typeface="Noto Sans TC"/>
              </a:rPr>
              <a:t>）。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 err="1">
                <a:solidFill>
                  <a:srgbClr val="34495E"/>
                </a:solidFill>
                <a:ea typeface="+mn-lt"/>
                <a:cs typeface="+mn-lt"/>
              </a:rPr>
              <a:t>vol_chg</a:t>
            </a:r>
            <a:r>
              <a:rPr lang="en-US" sz="1500" dirty="0">
                <a:solidFill>
                  <a:srgbClr val="34495E"/>
                </a:solidFill>
                <a:ea typeface="+mn-lt"/>
                <a:cs typeface="+mn-lt"/>
              </a:rPr>
              <a:t> (</a:t>
            </a:r>
            <a:r>
              <a:rPr lang="zh-TW" altLang="en-US" sz="1500" dirty="0">
                <a:solidFill>
                  <a:srgbClr val="34495E"/>
                </a:solidFill>
                <a:ea typeface="+mn-lt"/>
                <a:cs typeface="+mn-lt"/>
              </a:rPr>
              <a:t>成交量變化率</a:t>
            </a:r>
            <a:r>
              <a:rPr lang="en-US" sz="1500" dirty="0">
                <a:solidFill>
                  <a:srgbClr val="34495E"/>
                </a:solidFill>
                <a:ea typeface="+mn-lt"/>
                <a:cs typeface="+mn-lt"/>
              </a:rPr>
              <a:t>)</a:t>
            </a:r>
            <a:r>
              <a:rPr lang="zh-TW" altLang="en-US" sz="1500" dirty="0">
                <a:solidFill>
                  <a:srgbClr val="34495E"/>
                </a:solidFill>
                <a:ea typeface="+mn-lt"/>
                <a:cs typeface="+mn-lt"/>
              </a:rPr>
              <a:t>：今天的成交量相較於昨天成交量的增減比例。用來判斷上漲或下跌是否有「帶量</a:t>
            </a:r>
            <a:r>
              <a:rPr lang="en-US" sz="1500" dirty="0">
                <a:solidFill>
                  <a:srgbClr val="34495E"/>
                </a:solidFill>
                <a:ea typeface="+mn-lt"/>
                <a:cs typeface="+mn-lt"/>
              </a:rPr>
              <a:t>」。</a:t>
            </a:r>
            <a:endParaRPr lang="en-US" sz="1500" dirty="0">
              <a:solidFill>
                <a:srgbClr val="34495E"/>
              </a:solidFill>
              <a:latin typeface="Noto Sans TC"/>
            </a:endParaRPr>
          </a:p>
          <a:p>
            <a:pPr marL="285750" indent="-285750">
              <a:buFont typeface="Arial"/>
              <a:buChar char="•"/>
            </a:pPr>
            <a:endParaRPr lang="en-US" sz="1500">
              <a:solidFill>
                <a:srgbClr val="34495E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altLang="zh-TW" sz="1500">
              <a:solidFill>
                <a:srgbClr val="34495E"/>
              </a:solidFill>
            </a:endParaRPr>
          </a:p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756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C3B5534B-AA33-4D4C-97F6-095B0628F6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B4B246-3203-4CD6-BC73-8C3FC2C179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4799F5-9038-4DB3-A902-B83A3FAEB838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DE0445-5292-43C8-ADC2-C6C9C0FA765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36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36A7A"/>
                </a:solidFill>
                <a:latin typeface="Aptos"/>
                <a:ea typeface="Aptos"/>
                <a:cs typeface="Aptos"/>
              </a:rPr>
              <a:t>3 / MODELING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D890E6-E2F9-4D53-95A3-CE0E384BE894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建模設計：同一組技術特徵，測試線性、降維與非線性模型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C00068-F81C-4162-B95D-EAB10AD97CD7}"/>
              </a:ext>
            </a:extLst>
          </p:cNvPr>
          <p:cNvSpPr>
            <a:spLocks noGrp="1"/>
          </p:cNvSpPr>
          <p:nvPr/>
        </p:nvSpPr>
        <p:spPr>
          <a:xfrm>
            <a:off x="628650" y="14478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每個模型只用 train split 訓練；validation 用來選模型與 threshold。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0604FC-4CD7-4E1A-BD17-A3F8C0842545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1638300" cy="914400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BB904B-686B-44E5-A953-AE258D1103C2}"/>
              </a:ext>
            </a:extLst>
          </p:cNvPr>
          <p:cNvSpPr>
            <a:spLocks noGrp="1"/>
          </p:cNvSpPr>
          <p:nvPr/>
        </p:nvSpPr>
        <p:spPr>
          <a:xfrm>
            <a:off x="819150" y="19431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Train split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583D88-F7A9-4A0C-B384-D0C13A099DE4}"/>
              </a:ext>
            </a:extLst>
          </p:cNvPr>
          <p:cNvSpPr>
            <a:spLocks noGrp="1"/>
          </p:cNvSpPr>
          <p:nvPr/>
        </p:nvSpPr>
        <p:spPr>
          <a:xfrm>
            <a:off x="819150" y="2209800"/>
            <a:ext cx="1409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fit model only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9790F0-5F4F-4042-9960-B29933660799}"/>
              </a:ext>
            </a:extLst>
          </p:cNvPr>
          <p:cNvSpPr>
            <a:spLocks noGrp="1"/>
          </p:cNvSpPr>
          <p:nvPr/>
        </p:nvSpPr>
        <p:spPr>
          <a:xfrm>
            <a:off x="2343150" y="2247900"/>
            <a:ext cx="6667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66A9DA-F51E-4950-9BA3-85E583641B6F}"/>
              </a:ext>
            </a:extLst>
          </p:cNvPr>
          <p:cNvSpPr>
            <a:spLocks noGrp="1"/>
          </p:cNvSpPr>
          <p:nvPr/>
        </p:nvSpPr>
        <p:spPr>
          <a:xfrm>
            <a:off x="2924175" y="2190750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3204F5-68B5-4F2C-A945-DDB5CBB943F8}"/>
              </a:ext>
            </a:extLst>
          </p:cNvPr>
          <p:cNvSpPr>
            <a:spLocks noGrp="1"/>
          </p:cNvSpPr>
          <p:nvPr/>
        </p:nvSpPr>
        <p:spPr>
          <a:xfrm>
            <a:off x="3009900" y="1809750"/>
            <a:ext cx="1638300" cy="914400"/>
          </a:xfrm>
          <a:prstGeom prst="rect">
            <a:avLst/>
          </a:prstGeom>
          <a:solidFill>
            <a:srgbClr val="FEF3C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098267-3101-44E8-A428-EACCF3D25139}"/>
              </a:ext>
            </a:extLst>
          </p:cNvPr>
          <p:cNvSpPr>
            <a:spLocks noGrp="1"/>
          </p:cNvSpPr>
          <p:nvPr/>
        </p:nvSpPr>
        <p:spPr>
          <a:xfrm>
            <a:off x="3124200" y="19431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Validation split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1219F2-A858-4389-9F42-8E5CE768493D}"/>
              </a:ext>
            </a:extLst>
          </p:cNvPr>
          <p:cNvSpPr>
            <a:spLocks noGrp="1"/>
          </p:cNvSpPr>
          <p:nvPr/>
        </p:nvSpPr>
        <p:spPr>
          <a:xfrm>
            <a:off x="3124200" y="2209800"/>
            <a:ext cx="1409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compare models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search threshold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49E496-F590-4FA5-86CB-5E5B0F33A0AE}"/>
              </a:ext>
            </a:extLst>
          </p:cNvPr>
          <p:cNvSpPr>
            <a:spLocks noGrp="1"/>
          </p:cNvSpPr>
          <p:nvPr/>
        </p:nvSpPr>
        <p:spPr>
          <a:xfrm>
            <a:off x="4648200" y="2247900"/>
            <a:ext cx="6667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B36E1A-A567-4323-A988-755DDE03E7E0}"/>
              </a:ext>
            </a:extLst>
          </p:cNvPr>
          <p:cNvSpPr>
            <a:spLocks noGrp="1"/>
          </p:cNvSpPr>
          <p:nvPr/>
        </p:nvSpPr>
        <p:spPr>
          <a:xfrm>
            <a:off x="5229225" y="2190750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8A443C-8369-4AE6-8C87-2D41BF55E96A}"/>
              </a:ext>
            </a:extLst>
          </p:cNvPr>
          <p:cNvSpPr>
            <a:spLocks noGrp="1"/>
          </p:cNvSpPr>
          <p:nvPr/>
        </p:nvSpPr>
        <p:spPr>
          <a:xfrm>
            <a:off x="5314950" y="1809750"/>
            <a:ext cx="1638300" cy="914400"/>
          </a:xfrm>
          <a:prstGeom prst="rect">
            <a:avLst/>
          </a:prstGeom>
          <a:solidFill>
            <a:srgbClr val="DBF4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D3A600-7A77-441E-839C-44A9992EA1AB}"/>
              </a:ext>
            </a:extLst>
          </p:cNvPr>
          <p:cNvSpPr>
            <a:spLocks noGrp="1"/>
          </p:cNvSpPr>
          <p:nvPr/>
        </p:nvSpPr>
        <p:spPr>
          <a:xfrm>
            <a:off x="5429250" y="194310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Test split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165F80-82FB-486D-8BF7-7C4252015956}"/>
              </a:ext>
            </a:extLst>
          </p:cNvPr>
          <p:cNvSpPr>
            <a:spLocks noGrp="1"/>
          </p:cNvSpPr>
          <p:nvPr/>
        </p:nvSpPr>
        <p:spPr>
          <a:xfrm>
            <a:off x="5429250" y="2209800"/>
            <a:ext cx="1409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final out-of-sample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report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7794B5-0C7B-4530-BADF-8B8C5F6AF4C6}"/>
              </a:ext>
            </a:extLst>
          </p:cNvPr>
          <p:cNvSpPr>
            <a:spLocks noGrp="1"/>
          </p:cNvSpPr>
          <p:nvPr/>
        </p:nvSpPr>
        <p:spPr>
          <a:xfrm>
            <a:off x="7524750" y="1943100"/>
            <a:ext cx="314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Time-series split: 60% / 20% / 20% by default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3847AFB-284D-4F75-9BB2-163379120340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24574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8D4C54-9AE8-4B40-8D71-C78B3EC3FD19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66675" cy="1428750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ED40A3-977F-4C53-8623-C4684138DDF0}"/>
              </a:ext>
            </a:extLst>
          </p:cNvPr>
          <p:cNvSpPr>
            <a:spLocks noGrp="1"/>
          </p:cNvSpPr>
          <p:nvPr/>
        </p:nvSpPr>
        <p:spPr>
          <a:xfrm>
            <a:off x="971550" y="371475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LogisticRegression_Ridge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8B8F9D0-B9C6-4ECA-A108-1C8BA859563B}"/>
              </a:ext>
            </a:extLst>
          </p:cNvPr>
          <p:cNvSpPr>
            <a:spLocks noGrp="1"/>
          </p:cNvSpPr>
          <p:nvPr/>
        </p:nvSpPr>
        <p:spPr>
          <a:xfrm>
            <a:off x="971550" y="405765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L2 regularization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StandardScaler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interpretable linear baseline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3A6171-2F21-48CF-9C6F-AF9CC21191E1}"/>
              </a:ext>
            </a:extLst>
          </p:cNvPr>
          <p:cNvSpPr>
            <a:spLocks noGrp="1"/>
          </p:cNvSpPr>
          <p:nvPr/>
        </p:nvSpPr>
        <p:spPr>
          <a:xfrm>
            <a:off x="3486150" y="3543300"/>
            <a:ext cx="24574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DBAB9D2-CB84-4E62-943A-D08336A59673}"/>
              </a:ext>
            </a:extLst>
          </p:cNvPr>
          <p:cNvSpPr>
            <a:spLocks noGrp="1"/>
          </p:cNvSpPr>
          <p:nvPr/>
        </p:nvSpPr>
        <p:spPr>
          <a:xfrm>
            <a:off x="3486150" y="3543300"/>
            <a:ext cx="66675" cy="14287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3842F72-BB8F-4B19-B0D6-C686E0389EEB}"/>
              </a:ext>
            </a:extLst>
          </p:cNvPr>
          <p:cNvSpPr>
            <a:spLocks noGrp="1"/>
          </p:cNvSpPr>
          <p:nvPr/>
        </p:nvSpPr>
        <p:spPr>
          <a:xfrm>
            <a:off x="3695700" y="371475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PCA_LogReg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16DAB26-F7D3-4688-949B-C3001D2472A0}"/>
              </a:ext>
            </a:extLst>
          </p:cNvPr>
          <p:cNvSpPr>
            <a:spLocks noGrp="1"/>
          </p:cNvSpPr>
          <p:nvPr/>
        </p:nvSpPr>
        <p:spPr>
          <a:xfrm>
            <a:off x="3695700" y="405765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StandardScaler + PCA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keep 90% variance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reduce noisy dimensions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D32921-531F-4022-A51B-67C155BA011B}"/>
              </a:ext>
            </a:extLst>
          </p:cNvPr>
          <p:cNvSpPr>
            <a:spLocks noGrp="1"/>
          </p:cNvSpPr>
          <p:nvPr/>
        </p:nvSpPr>
        <p:spPr>
          <a:xfrm>
            <a:off x="6210300" y="3543300"/>
            <a:ext cx="24574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B67D3D8-987F-432A-8716-24B40133B122}"/>
              </a:ext>
            </a:extLst>
          </p:cNvPr>
          <p:cNvSpPr>
            <a:spLocks noGrp="1"/>
          </p:cNvSpPr>
          <p:nvPr/>
        </p:nvSpPr>
        <p:spPr>
          <a:xfrm>
            <a:off x="6210300" y="3543300"/>
            <a:ext cx="66675" cy="14287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7B68FF-7B16-40F6-B511-FE1172CF2FC3}"/>
              </a:ext>
            </a:extLst>
          </p:cNvPr>
          <p:cNvSpPr>
            <a:spLocks noGrp="1"/>
          </p:cNvSpPr>
          <p:nvPr/>
        </p:nvSpPr>
        <p:spPr>
          <a:xfrm>
            <a:off x="6419850" y="371475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RandomForest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2D8FE05-7B6A-40D6-BC0E-65E91D32B209}"/>
              </a:ext>
            </a:extLst>
          </p:cNvPr>
          <p:cNvSpPr>
            <a:spLocks noGrp="1"/>
          </p:cNvSpPr>
          <p:nvPr/>
        </p:nvSpPr>
        <p:spPr>
          <a:xfrm>
            <a:off x="6419850" y="405765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500 trees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max_depth = 6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nonlinear rules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E6613D-0441-4EB3-A7E2-4AE2A59ECA14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4574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A678FB3-0925-4A67-AD8A-67DA7FC07621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66675" cy="14287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F64AB7-132D-41A9-AF1F-7570CBD3B9C2}"/>
              </a:ext>
            </a:extLst>
          </p:cNvPr>
          <p:cNvSpPr>
            <a:spLocks noGrp="1"/>
          </p:cNvSpPr>
          <p:nvPr/>
        </p:nvSpPr>
        <p:spPr>
          <a:xfrm>
            <a:off x="9144000" y="3714750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XGBoost optional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3D35043-182B-4ADB-A6AE-DA68A7726E29}"/>
              </a:ext>
            </a:extLst>
          </p:cNvPr>
          <p:cNvSpPr>
            <a:spLocks noGrp="1"/>
          </p:cNvSpPr>
          <p:nvPr/>
        </p:nvSpPr>
        <p:spPr>
          <a:xfrm>
            <a:off x="9144000" y="405765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gradient boosting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learning_rate = 0.01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subsample / colsample = 0.8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7E0538E-C757-4423-9545-E6BC044BEE2C}"/>
              </a:ext>
            </a:extLst>
          </p:cNvPr>
          <p:cNvSpPr>
            <a:spLocks noGrp="1"/>
          </p:cNvSpPr>
          <p:nvPr/>
        </p:nvSpPr>
        <p:spPr>
          <a:xfrm>
            <a:off x="838200" y="55054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選模原則：不是 validation accuracy 最高就贏，而是 validation backtest return 最能對齊交易目標。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99B2DC0-50B2-463F-8A3C-BC48C998AFF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NCCU Data Science Final Project · technical_strategy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6143CFF-10CA-4CA2-A3E4-935F86D75AAF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4175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223D1A85-F0A4-481D-8581-885779E980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2FA041-500B-47CE-BC87-075B0D0235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D6AE54-E9B3-4B2A-AD7B-18899BB1143C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0AF271-DD39-4239-B7BA-275D8EF9704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36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36A7A"/>
                </a:solidFill>
                <a:latin typeface="Aptos"/>
                <a:ea typeface="Aptos"/>
                <a:cs typeface="Aptos"/>
              </a:rPr>
              <a:t>4 / EVALUATION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7F87F7-F89F-40FE-9CCF-5DFD5BC6F3A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評估方式：分類指標回答「有沒有猜對」，交易指標回答「有沒有策略價值」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379C1E-74C5-491A-BBD1-DDA7D09B120C}"/>
              </a:ext>
            </a:extLst>
          </p:cNvPr>
          <p:cNvSpPr>
            <a:spLocks noGrp="1"/>
          </p:cNvSpPr>
          <p:nvPr/>
        </p:nvSpPr>
        <p:spPr>
          <a:xfrm>
            <a:off x="628650" y="14478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本專案用 validation 選模型與 threshold，再用 test 做最終樣本外檢查。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2DA5B3-0240-4025-B7D1-5327D9BEE19A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20764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9889D1-F329-436E-8DB7-9A2CB8BB7C49}"/>
              </a:ext>
            </a:extLst>
          </p:cNvPr>
          <p:cNvSpPr>
            <a:spLocks noGrp="1"/>
          </p:cNvSpPr>
          <p:nvPr/>
        </p:nvSpPr>
        <p:spPr>
          <a:xfrm>
            <a:off x="952500" y="1847850"/>
            <a:ext cx="1733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E9405C-25EE-4195-8521-3F82050FFB5D}"/>
              </a:ext>
            </a:extLst>
          </p:cNvPr>
          <p:cNvSpPr>
            <a:spLocks noGrp="1"/>
          </p:cNvSpPr>
          <p:nvPr/>
        </p:nvSpPr>
        <p:spPr>
          <a:xfrm>
            <a:off x="952500" y="2057400"/>
            <a:ext cx="1733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Accuracy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0B9386-CFCE-4592-BA0E-BFA64BE48850}"/>
              </a:ext>
            </a:extLst>
          </p:cNvPr>
          <p:cNvSpPr>
            <a:spLocks noGrp="1"/>
          </p:cNvSpPr>
          <p:nvPr/>
        </p:nvSpPr>
        <p:spPr>
          <a:xfrm>
            <a:off x="952500" y="24955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整體方向猜對比例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8B2B75-9328-4F3F-B835-B4872C09A696}"/>
              </a:ext>
            </a:extLst>
          </p:cNvPr>
          <p:cNvSpPr>
            <a:spLocks noGrp="1"/>
          </p:cNvSpPr>
          <p:nvPr/>
        </p:nvSpPr>
        <p:spPr>
          <a:xfrm>
            <a:off x="3048000" y="1695450"/>
            <a:ext cx="20764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825062-2E9A-42AB-9576-190D342A8BFF}"/>
              </a:ext>
            </a:extLst>
          </p:cNvPr>
          <p:cNvSpPr>
            <a:spLocks noGrp="1"/>
          </p:cNvSpPr>
          <p:nvPr/>
        </p:nvSpPr>
        <p:spPr>
          <a:xfrm>
            <a:off x="3219450" y="1847850"/>
            <a:ext cx="1733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5AB5C6-9A41-41A5-AC51-B426CDDD029D}"/>
              </a:ext>
            </a:extLst>
          </p:cNvPr>
          <p:cNvSpPr>
            <a:spLocks noGrp="1"/>
          </p:cNvSpPr>
          <p:nvPr/>
        </p:nvSpPr>
        <p:spPr>
          <a:xfrm>
            <a:off x="3219450" y="2057400"/>
            <a:ext cx="1733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Precision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636707-2EC9-40A9-8109-CEA72F209E69}"/>
              </a:ext>
            </a:extLst>
          </p:cNvPr>
          <p:cNvSpPr>
            <a:spLocks noGrp="1"/>
          </p:cNvSpPr>
          <p:nvPr/>
        </p:nvSpPr>
        <p:spPr>
          <a:xfrm>
            <a:off x="3219450" y="24955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買入訊號可信度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DD474-02AF-4060-A93E-F88AA212F52D}"/>
              </a:ext>
            </a:extLst>
          </p:cNvPr>
          <p:cNvSpPr>
            <a:spLocks noGrp="1"/>
          </p:cNvSpPr>
          <p:nvPr/>
        </p:nvSpPr>
        <p:spPr>
          <a:xfrm>
            <a:off x="5314950" y="1695450"/>
            <a:ext cx="20764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471A72-FD33-4E83-8E8A-40289BA9F616}"/>
              </a:ext>
            </a:extLst>
          </p:cNvPr>
          <p:cNvSpPr>
            <a:spLocks noGrp="1"/>
          </p:cNvSpPr>
          <p:nvPr/>
        </p:nvSpPr>
        <p:spPr>
          <a:xfrm>
            <a:off x="5486400" y="1847850"/>
            <a:ext cx="1733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8AF3BC-353D-4649-BA9C-4EEBB4E6484A}"/>
              </a:ext>
            </a:extLst>
          </p:cNvPr>
          <p:cNvSpPr>
            <a:spLocks noGrp="1"/>
          </p:cNvSpPr>
          <p:nvPr/>
        </p:nvSpPr>
        <p:spPr>
          <a:xfrm>
            <a:off x="5486400" y="2057400"/>
            <a:ext cx="1733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Recall / F1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D24A032-754B-403F-A711-83229E2B3411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少漏判與少誤判平衡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3C761F-CFA7-4A62-ADB5-70F38EA05FF9}"/>
              </a:ext>
            </a:extLst>
          </p:cNvPr>
          <p:cNvSpPr>
            <a:spLocks noGrp="1"/>
          </p:cNvSpPr>
          <p:nvPr/>
        </p:nvSpPr>
        <p:spPr>
          <a:xfrm>
            <a:off x="7581900" y="1695450"/>
            <a:ext cx="20764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64BC6E-FB55-4D1C-AFB2-36B18C644141}"/>
              </a:ext>
            </a:extLst>
          </p:cNvPr>
          <p:cNvSpPr>
            <a:spLocks noGrp="1"/>
          </p:cNvSpPr>
          <p:nvPr/>
        </p:nvSpPr>
        <p:spPr>
          <a:xfrm>
            <a:off x="7753350" y="1847850"/>
            <a:ext cx="1733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Trading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AC881B-2A30-4E46-A255-4D558E04835F}"/>
              </a:ext>
            </a:extLst>
          </p:cNvPr>
          <p:cNvSpPr>
            <a:spLocks noGrp="1"/>
          </p:cNvSpPr>
          <p:nvPr/>
        </p:nvSpPr>
        <p:spPr>
          <a:xfrm>
            <a:off x="7753350" y="2057400"/>
            <a:ext cx="1733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Return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E82CAA-3359-494B-848F-8763BBDB0E7E}"/>
              </a:ext>
            </a:extLst>
          </p:cNvPr>
          <p:cNvSpPr>
            <a:spLocks noGrp="1"/>
          </p:cNvSpPr>
          <p:nvPr/>
        </p:nvSpPr>
        <p:spPr>
          <a:xfrm>
            <a:off x="7753350" y="24955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策略是否賺錢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9BDDF4-7816-41A7-9A72-783970BC636A}"/>
              </a:ext>
            </a:extLst>
          </p:cNvPr>
          <p:cNvSpPr>
            <a:spLocks noGrp="1"/>
          </p:cNvSpPr>
          <p:nvPr/>
        </p:nvSpPr>
        <p:spPr>
          <a:xfrm>
            <a:off x="9848850" y="1695450"/>
            <a:ext cx="20764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B81E31-8CEB-4C21-8D32-77C5DCAF0593}"/>
              </a:ext>
            </a:extLst>
          </p:cNvPr>
          <p:cNvSpPr>
            <a:spLocks noGrp="1"/>
          </p:cNvSpPr>
          <p:nvPr/>
        </p:nvSpPr>
        <p:spPr>
          <a:xfrm>
            <a:off x="10020300" y="1847850"/>
            <a:ext cx="1733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Trading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996F61-9D87-41DA-988E-4BC1F34B00B6}"/>
              </a:ext>
            </a:extLst>
          </p:cNvPr>
          <p:cNvSpPr>
            <a:spLocks noGrp="1"/>
          </p:cNvSpPr>
          <p:nvPr/>
        </p:nvSpPr>
        <p:spPr>
          <a:xfrm>
            <a:off x="10020300" y="2057400"/>
            <a:ext cx="1733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Sharpe / MDD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3886E23-1BD6-45AE-90DA-D730114C06EA}"/>
              </a:ext>
            </a:extLst>
          </p:cNvPr>
          <p:cNvSpPr>
            <a:spLocks noGrp="1"/>
          </p:cNvSpPr>
          <p:nvPr/>
        </p:nvSpPr>
        <p:spPr>
          <a:xfrm>
            <a:off x="10020300" y="24955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788" b="0">
                <a:solidFill>
                  <a:srgbClr val="94A3B8"/>
                </a:solidFill>
                <a:latin typeface="Microsoft JhengHei UI"/>
                <a:ea typeface="Microsoft JhengHei UI"/>
                <a:cs typeface="Microsoft JhengHei UI"/>
              </a:rPr>
              <a:t>風險調整與最大回撤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3D57FD7-82FB-4756-AD49-65AB0DC4CCD2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2038350" cy="895350"/>
          </a:xfrm>
          <a:prstGeom prst="rect">
            <a:avLst/>
          </a:prstGeom>
          <a:solidFill>
            <a:srgbClr val="E0E7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C22C7C-6BE4-434F-9062-927CF019D5BD}"/>
              </a:ext>
            </a:extLst>
          </p:cNvPr>
          <p:cNvSpPr>
            <a:spLocks noGrp="1"/>
          </p:cNvSpPr>
          <p:nvPr/>
        </p:nvSpPr>
        <p:spPr>
          <a:xfrm>
            <a:off x="1219200" y="38671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P(up)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6C7662-35A1-4ADB-A44B-FDD117D43E1F}"/>
              </a:ext>
            </a:extLst>
          </p:cNvPr>
          <p:cNvSpPr>
            <a:spLocks noGrp="1"/>
          </p:cNvSpPr>
          <p:nvPr/>
        </p:nvSpPr>
        <p:spPr>
          <a:xfrm>
            <a:off x="1219200" y="41338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model probability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A055C3-814E-4CB9-B1A2-556CEE83C784}"/>
              </a:ext>
            </a:extLst>
          </p:cNvPr>
          <p:cNvSpPr>
            <a:spLocks noGrp="1"/>
          </p:cNvSpPr>
          <p:nvPr/>
        </p:nvSpPr>
        <p:spPr>
          <a:xfrm>
            <a:off x="3143250" y="4162425"/>
            <a:ext cx="8572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DDD0810-19E9-49B2-99B3-2452C82EAF07}"/>
              </a:ext>
            </a:extLst>
          </p:cNvPr>
          <p:cNvSpPr>
            <a:spLocks noGrp="1"/>
          </p:cNvSpPr>
          <p:nvPr/>
        </p:nvSpPr>
        <p:spPr>
          <a:xfrm>
            <a:off x="3914775" y="4105275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730B0A2-EBA8-4760-A9F7-70AA35EF5A21}"/>
              </a:ext>
            </a:extLst>
          </p:cNvPr>
          <p:cNvSpPr>
            <a:spLocks noGrp="1"/>
          </p:cNvSpPr>
          <p:nvPr/>
        </p:nvSpPr>
        <p:spPr>
          <a:xfrm>
            <a:off x="4000500" y="3733800"/>
            <a:ext cx="2038350" cy="895350"/>
          </a:xfrm>
          <a:prstGeom prst="rect">
            <a:avLst/>
          </a:prstGeom>
          <a:solidFill>
            <a:srgbClr val="FEF3C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3E60B73-5939-4100-8CC1-09E2B540582C}"/>
              </a:ext>
            </a:extLst>
          </p:cNvPr>
          <p:cNvSpPr>
            <a:spLocks noGrp="1"/>
          </p:cNvSpPr>
          <p:nvPr/>
        </p:nvSpPr>
        <p:spPr>
          <a:xfrm>
            <a:off x="4114800" y="38671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Threshold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066E5B2-9914-469D-8A9E-A0CCA3A7E579}"/>
              </a:ext>
            </a:extLst>
          </p:cNvPr>
          <p:cNvSpPr>
            <a:spLocks noGrp="1"/>
          </p:cNvSpPr>
          <p:nvPr/>
        </p:nvSpPr>
        <p:spPr>
          <a:xfrm>
            <a:off x="4114800" y="41338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validation search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BD5864D-73F9-483A-B108-917DB8F17408}"/>
              </a:ext>
            </a:extLst>
          </p:cNvPr>
          <p:cNvSpPr>
            <a:spLocks noGrp="1"/>
          </p:cNvSpPr>
          <p:nvPr/>
        </p:nvSpPr>
        <p:spPr>
          <a:xfrm>
            <a:off x="6038850" y="4162425"/>
            <a:ext cx="8572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E97F020-A6D2-4D9A-B7CB-BDCA901A89C3}"/>
              </a:ext>
            </a:extLst>
          </p:cNvPr>
          <p:cNvSpPr>
            <a:spLocks noGrp="1"/>
          </p:cNvSpPr>
          <p:nvPr/>
        </p:nvSpPr>
        <p:spPr>
          <a:xfrm>
            <a:off x="6810375" y="4105275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430E862-1CC5-4B8F-88D5-CD8DD7534DCC}"/>
              </a:ext>
            </a:extLst>
          </p:cNvPr>
          <p:cNvSpPr>
            <a:spLocks noGrp="1"/>
          </p:cNvSpPr>
          <p:nvPr/>
        </p:nvSpPr>
        <p:spPr>
          <a:xfrm>
            <a:off x="6896100" y="3733800"/>
            <a:ext cx="2038350" cy="895350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1DA5EDF-292C-454B-9666-645C902F5F91}"/>
              </a:ext>
            </a:extLst>
          </p:cNvPr>
          <p:cNvSpPr>
            <a:spLocks noGrp="1"/>
          </p:cNvSpPr>
          <p:nvPr/>
        </p:nvSpPr>
        <p:spPr>
          <a:xfrm>
            <a:off x="7010400" y="38671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Position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76BC350-BD29-4E74-B8D3-3CBF2D000EFB}"/>
              </a:ext>
            </a:extLst>
          </p:cNvPr>
          <p:cNvSpPr>
            <a:spLocks noGrp="1"/>
          </p:cNvSpPr>
          <p:nvPr/>
        </p:nvSpPr>
        <p:spPr>
          <a:xfrm>
            <a:off x="7010400" y="41338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1 = hold, 0 = cash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5E0A2C8-6B72-4C7E-857A-B26C315F7CC1}"/>
              </a:ext>
            </a:extLst>
          </p:cNvPr>
          <p:cNvSpPr>
            <a:spLocks noGrp="1"/>
          </p:cNvSpPr>
          <p:nvPr/>
        </p:nvSpPr>
        <p:spPr>
          <a:xfrm>
            <a:off x="8934450" y="4162425"/>
            <a:ext cx="8572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4C258C4-95E2-4FB4-BB13-238CFA16AFCC}"/>
              </a:ext>
            </a:extLst>
          </p:cNvPr>
          <p:cNvSpPr>
            <a:spLocks noGrp="1"/>
          </p:cNvSpPr>
          <p:nvPr/>
        </p:nvSpPr>
        <p:spPr>
          <a:xfrm>
            <a:off x="9705975" y="4105275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5F1D421-BAE3-4502-9760-F0949DDD23F0}"/>
              </a:ext>
            </a:extLst>
          </p:cNvPr>
          <p:cNvSpPr>
            <a:spLocks noGrp="1"/>
          </p:cNvSpPr>
          <p:nvPr/>
        </p:nvSpPr>
        <p:spPr>
          <a:xfrm>
            <a:off x="9791700" y="3733800"/>
            <a:ext cx="1581150" cy="895350"/>
          </a:xfrm>
          <a:prstGeom prst="rect">
            <a:avLst/>
          </a:prstGeom>
          <a:solidFill>
            <a:srgbClr val="DBF4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213F2FF-4BE9-4BB7-9C15-DC7563E2088C}"/>
              </a:ext>
            </a:extLst>
          </p:cNvPr>
          <p:cNvSpPr>
            <a:spLocks noGrp="1"/>
          </p:cNvSpPr>
          <p:nvPr/>
        </p:nvSpPr>
        <p:spPr>
          <a:xfrm>
            <a:off x="9906000" y="38671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Backtest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8F677FE-F3C8-4402-9A85-436689317B4E}"/>
              </a:ext>
            </a:extLst>
          </p:cNvPr>
          <p:cNvSpPr>
            <a:spLocks noGrp="1"/>
          </p:cNvSpPr>
          <p:nvPr/>
        </p:nvSpPr>
        <p:spPr>
          <a:xfrm>
            <a:off x="9906000" y="41338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strategy vs Buy &amp; Hold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A0C5BA-76A7-4373-8C19-175C456386C9}"/>
              </a:ext>
            </a:extLst>
          </p:cNvPr>
          <p:cNvSpPr>
            <a:spLocks noGrp="1"/>
          </p:cNvSpPr>
          <p:nvPr/>
        </p:nvSpPr>
        <p:spPr>
          <a:xfrm>
            <a:off x="914400" y="5010150"/>
            <a:ext cx="9525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7DDC052-9C44-4783-B468-D1D5A2D67644}"/>
              </a:ext>
            </a:extLst>
          </p:cNvPr>
          <p:cNvSpPr>
            <a:spLocks noGrp="1"/>
          </p:cNvSpPr>
          <p:nvPr/>
        </p:nvSpPr>
        <p:spPr>
          <a:xfrm>
            <a:off x="914400" y="5010150"/>
            <a:ext cx="66675" cy="9906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FB06322-09DA-4298-B81B-A4E0F8A7A625}"/>
              </a:ext>
            </a:extLst>
          </p:cNvPr>
          <p:cNvSpPr>
            <a:spLocks noGrp="1"/>
          </p:cNvSpPr>
          <p:nvPr/>
        </p:nvSpPr>
        <p:spPr>
          <a:xfrm>
            <a:off x="1123950" y="5181600"/>
            <a:ext cx="914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選模關鍵原因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3DB540F-7B01-4DF7-9921-F0851937E6B5}"/>
              </a:ext>
            </a:extLst>
          </p:cNvPr>
          <p:cNvSpPr>
            <a:spLocks noGrp="1"/>
          </p:cNvSpPr>
          <p:nvPr/>
        </p:nvSpPr>
        <p:spPr>
          <a:xfrm>
            <a:off x="1123950" y="55245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金融任務中 accuracy 高不保證獲利；因此本專案以 validation strategy total return 選最佳模型，再檢查 test return、max drawdown、Sharpe、entry count 與 holding ratio。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95C75AF-1C21-4E1D-AE5A-5B6439575D8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NCCU Data Science Final Project · technical_strategy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4737D5B-4F3D-43CB-ACFF-DEA6F974D14F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844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958FC8D-DF48-4395-80ED-44D2281E3A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C0F34E-612B-4FD5-B58F-09429A7168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4B72B2-50FE-495A-82DC-B196CD169234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336B5F-275F-43A0-8DCB-41C6490389A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36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36A7A"/>
                </a:solidFill>
                <a:latin typeface="Aptos"/>
                <a:ea typeface="Aptos"/>
                <a:cs typeface="Aptos"/>
              </a:rPr>
              <a:t>5 / DEMO &amp; OUTPUTS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69C432-7286-4D29-BBF6-FF40917AA9B9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Streamlit demo：按 Run 後同時看資料、模型、回測與最新訊號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223DFB-E410-4D0E-A7D3-E6048081C6FE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1619250" cy="838200"/>
          </a:xfrm>
          <a:prstGeom prst="rect">
            <a:avLst/>
          </a:prstGeom>
          <a:solidFill>
            <a:srgbClr val="E0E7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413354-C7DC-41AF-B0A3-1B0C1B1D4653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1. Set inputs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E414E1-2B2D-45E3-83DC-F2137778FF30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1390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ticker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date range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ratios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DB8763-A7B4-477F-BE9F-E06BCFE3B477}"/>
              </a:ext>
            </a:extLst>
          </p:cNvPr>
          <p:cNvSpPr>
            <a:spLocks noGrp="1"/>
          </p:cNvSpPr>
          <p:nvPr/>
        </p:nvSpPr>
        <p:spPr>
          <a:xfrm>
            <a:off x="2362200" y="2095500"/>
            <a:ext cx="5905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7E801C-A53C-4A44-BB19-B89F69816087}"/>
              </a:ext>
            </a:extLst>
          </p:cNvPr>
          <p:cNvSpPr>
            <a:spLocks noGrp="1"/>
          </p:cNvSpPr>
          <p:nvPr/>
        </p:nvSpPr>
        <p:spPr>
          <a:xfrm>
            <a:off x="2867025" y="2038350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8AB8FF-5A3F-4AF9-B8F6-E3C24EB8926F}"/>
              </a:ext>
            </a:extLst>
          </p:cNvPr>
          <p:cNvSpPr>
            <a:spLocks noGrp="1"/>
          </p:cNvSpPr>
          <p:nvPr/>
        </p:nvSpPr>
        <p:spPr>
          <a:xfrm>
            <a:off x="2952750" y="1695450"/>
            <a:ext cx="1619250" cy="838200"/>
          </a:xfrm>
          <a:prstGeom prst="rect">
            <a:avLst/>
          </a:prstGeom>
          <a:solidFill>
            <a:srgbClr val="DBF4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55EFAB-E788-48D7-8B3F-DF9A871C73DA}"/>
              </a:ext>
            </a:extLst>
          </p:cNvPr>
          <p:cNvSpPr>
            <a:spLocks noGrp="1"/>
          </p:cNvSpPr>
          <p:nvPr/>
        </p:nvSpPr>
        <p:spPr>
          <a:xfrm>
            <a:off x="3067050" y="18288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2. Run model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076F00-8E5E-49F1-B1E7-31F34732179C}"/>
              </a:ext>
            </a:extLst>
          </p:cNvPr>
          <p:cNvSpPr>
            <a:spLocks noGrp="1"/>
          </p:cNvSpPr>
          <p:nvPr/>
        </p:nvSpPr>
        <p:spPr>
          <a:xfrm>
            <a:off x="3067050" y="2095500"/>
            <a:ext cx="1390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download data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train candidates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4C02C2-89C0-4408-A2F1-D028589488A1}"/>
              </a:ext>
            </a:extLst>
          </p:cNvPr>
          <p:cNvSpPr>
            <a:spLocks noGrp="1"/>
          </p:cNvSpPr>
          <p:nvPr/>
        </p:nvSpPr>
        <p:spPr>
          <a:xfrm>
            <a:off x="4572000" y="2095500"/>
            <a:ext cx="5905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F7DEF4-99B8-464D-B11A-B82C833E5936}"/>
              </a:ext>
            </a:extLst>
          </p:cNvPr>
          <p:cNvSpPr>
            <a:spLocks noGrp="1"/>
          </p:cNvSpPr>
          <p:nvPr/>
        </p:nvSpPr>
        <p:spPr>
          <a:xfrm>
            <a:off x="5076825" y="2038350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A2D45C-1BFB-402D-BDCE-96A163B9A25C}"/>
              </a:ext>
            </a:extLst>
          </p:cNvPr>
          <p:cNvSpPr>
            <a:spLocks noGrp="1"/>
          </p:cNvSpPr>
          <p:nvPr/>
        </p:nvSpPr>
        <p:spPr>
          <a:xfrm>
            <a:off x="5162550" y="1695450"/>
            <a:ext cx="1619250" cy="838200"/>
          </a:xfrm>
          <a:prstGeom prst="rect">
            <a:avLst/>
          </a:prstGeom>
          <a:solidFill>
            <a:srgbClr val="FEF3C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BE703D-7C1E-47C8-A535-51851ECDD26B}"/>
              </a:ext>
            </a:extLst>
          </p:cNvPr>
          <p:cNvSpPr>
            <a:spLocks noGrp="1"/>
          </p:cNvSpPr>
          <p:nvPr/>
        </p:nvSpPr>
        <p:spPr>
          <a:xfrm>
            <a:off x="5276850" y="18288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3. Compare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4DBB36-F9E1-41C5-A904-AFABD7081F27}"/>
              </a:ext>
            </a:extLst>
          </p:cNvPr>
          <p:cNvSpPr>
            <a:spLocks noGrp="1"/>
          </p:cNvSpPr>
          <p:nvPr/>
        </p:nvSpPr>
        <p:spPr>
          <a:xfrm>
            <a:off x="5276850" y="2095500"/>
            <a:ext cx="1390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metrics table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best model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706723-61BD-406B-9F35-04219795D475}"/>
              </a:ext>
            </a:extLst>
          </p:cNvPr>
          <p:cNvSpPr>
            <a:spLocks noGrp="1"/>
          </p:cNvSpPr>
          <p:nvPr/>
        </p:nvSpPr>
        <p:spPr>
          <a:xfrm>
            <a:off x="6781800" y="2095500"/>
            <a:ext cx="5905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54FBC3-253D-4B0B-A898-463EEC4336E5}"/>
              </a:ext>
            </a:extLst>
          </p:cNvPr>
          <p:cNvSpPr>
            <a:spLocks noGrp="1"/>
          </p:cNvSpPr>
          <p:nvPr/>
        </p:nvSpPr>
        <p:spPr>
          <a:xfrm>
            <a:off x="7286625" y="2038350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D1AA47-CE1D-4CAE-B98D-7874398273FC}"/>
              </a:ext>
            </a:extLst>
          </p:cNvPr>
          <p:cNvSpPr>
            <a:spLocks noGrp="1"/>
          </p:cNvSpPr>
          <p:nvPr/>
        </p:nvSpPr>
        <p:spPr>
          <a:xfrm>
            <a:off x="7372350" y="1695450"/>
            <a:ext cx="1619250" cy="838200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368772-75D1-4C95-A2F0-B864D5392B55}"/>
              </a:ext>
            </a:extLst>
          </p:cNvPr>
          <p:cNvSpPr>
            <a:spLocks noGrp="1"/>
          </p:cNvSpPr>
          <p:nvPr/>
        </p:nvSpPr>
        <p:spPr>
          <a:xfrm>
            <a:off x="7486650" y="18288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4. Backtest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D90143-5248-4063-8973-0793D8948777}"/>
              </a:ext>
            </a:extLst>
          </p:cNvPr>
          <p:cNvSpPr>
            <a:spLocks noGrp="1"/>
          </p:cNvSpPr>
          <p:nvPr/>
        </p:nvSpPr>
        <p:spPr>
          <a:xfrm>
            <a:off x="7486650" y="2095500"/>
            <a:ext cx="1390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equity curve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strategy vs hold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BA0B1A8-0B7E-4A59-AB68-B07F2B85B5ED}"/>
              </a:ext>
            </a:extLst>
          </p:cNvPr>
          <p:cNvSpPr>
            <a:spLocks noGrp="1"/>
          </p:cNvSpPr>
          <p:nvPr/>
        </p:nvSpPr>
        <p:spPr>
          <a:xfrm>
            <a:off x="8991600" y="2095500"/>
            <a:ext cx="590550" cy="381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0D0C3FE-2451-4DB0-BA88-18E23BF2B06E}"/>
              </a:ext>
            </a:extLst>
          </p:cNvPr>
          <p:cNvSpPr>
            <a:spLocks noGrp="1"/>
          </p:cNvSpPr>
          <p:nvPr/>
        </p:nvSpPr>
        <p:spPr>
          <a:xfrm>
            <a:off x="9496425" y="2038350"/>
            <a:ext cx="152400" cy="152400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D8DF42B-6137-4A5C-A87D-DEA6D3BAEBB8}"/>
              </a:ext>
            </a:extLst>
          </p:cNvPr>
          <p:cNvSpPr>
            <a:spLocks noGrp="1"/>
          </p:cNvSpPr>
          <p:nvPr/>
        </p:nvSpPr>
        <p:spPr>
          <a:xfrm>
            <a:off x="9582150" y="1695450"/>
            <a:ext cx="1619250" cy="838200"/>
          </a:xfrm>
          <a:prstGeom prst="rect">
            <a:avLst/>
          </a:prstGeom>
          <a:solidFill>
            <a:srgbClr val="FCE7F3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BA0CDD-09D1-4FC4-83FF-AD9473712041}"/>
              </a:ext>
            </a:extLst>
          </p:cNvPr>
          <p:cNvSpPr>
            <a:spLocks noGrp="1"/>
          </p:cNvSpPr>
          <p:nvPr/>
        </p:nvSpPr>
        <p:spPr>
          <a:xfrm>
            <a:off x="9696450" y="18288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25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5. Signal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F88FF81-8A1C-4391-84C4-BB5BCA9E5927}"/>
              </a:ext>
            </a:extLst>
          </p:cNvPr>
          <p:cNvSpPr>
            <a:spLocks noGrp="1"/>
          </p:cNvSpPr>
          <p:nvPr/>
        </p:nvSpPr>
        <p:spPr>
          <a:xfrm>
            <a:off x="9696450" y="2095500"/>
            <a:ext cx="1390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P(up)</a:t>
            </a:r>
          </a:p>
          <a:p>
            <a:pPr algn="ctr">
              <a:def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825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target position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BDCDFF1-2C0A-4B16-BAB5-22F80EA85FFE}"/>
              </a:ext>
            </a:extLst>
          </p:cNvPr>
          <p:cNvSpPr>
            <a:spLocks noGrp="1"/>
          </p:cNvSpPr>
          <p:nvPr/>
        </p:nvSpPr>
        <p:spPr>
          <a:xfrm>
            <a:off x="876300" y="3295650"/>
            <a:ext cx="31242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B7B6804-CCEC-420F-854C-5DDE181749DB}"/>
              </a:ext>
            </a:extLst>
          </p:cNvPr>
          <p:cNvSpPr>
            <a:spLocks noGrp="1"/>
          </p:cNvSpPr>
          <p:nvPr/>
        </p:nvSpPr>
        <p:spPr>
          <a:xfrm>
            <a:off x="876300" y="3295650"/>
            <a:ext cx="66675" cy="1428750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84D86A7-6708-472F-89BB-FF6632A58E18}"/>
              </a:ext>
            </a:extLst>
          </p:cNvPr>
          <p:cNvSpPr>
            <a:spLocks noGrp="1"/>
          </p:cNvSpPr>
          <p:nvPr/>
        </p:nvSpPr>
        <p:spPr>
          <a:xfrm>
            <a:off x="1085850" y="346710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Dashboard 應展示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8DCB1D8-702E-4436-AF7E-3AD7F04C14AC}"/>
              </a:ext>
            </a:extLst>
          </p:cNvPr>
          <p:cNvSpPr>
            <a:spLocks noGrp="1"/>
          </p:cNvSpPr>
          <p:nvPr/>
        </p:nvSpPr>
        <p:spPr>
          <a:xfrm>
            <a:off x="1085850" y="3810000"/>
            <a:ext cx="27432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0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Data </a:t>
            </a: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Summary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Training Data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Model Comparison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Backtest Dashboard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Latest Prediction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3C8CC1C-4323-4CAE-85BE-36208CB11625}"/>
              </a:ext>
            </a:extLst>
          </p:cNvPr>
          <p:cNvSpPr>
            <a:spLocks noGrp="1"/>
          </p:cNvSpPr>
          <p:nvPr/>
        </p:nvSpPr>
        <p:spPr>
          <a:xfrm>
            <a:off x="4495800" y="3295650"/>
            <a:ext cx="31242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2A0D72A-4918-43A9-B4F9-D4A59042BC1C}"/>
              </a:ext>
            </a:extLst>
          </p:cNvPr>
          <p:cNvSpPr>
            <a:spLocks noGrp="1"/>
          </p:cNvSpPr>
          <p:nvPr/>
        </p:nvSpPr>
        <p:spPr>
          <a:xfrm>
            <a:off x="4495800" y="3295650"/>
            <a:ext cx="66675" cy="1428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3F4191F-1420-46E6-A033-2DB8E94564E4}"/>
              </a:ext>
            </a:extLst>
          </p:cNvPr>
          <p:cNvSpPr>
            <a:spLocks noGrp="1"/>
          </p:cNvSpPr>
          <p:nvPr/>
        </p:nvSpPr>
        <p:spPr>
          <a:xfrm>
            <a:off x="4705350" y="346710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輸出檔案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5D9D39E-3C9D-4EEB-BC3A-EB15D9F1F6B4}"/>
              </a:ext>
            </a:extLst>
          </p:cNvPr>
          <p:cNvSpPr>
            <a:spLocks noGrp="1"/>
          </p:cNvSpPr>
          <p:nvPr/>
        </p:nvSpPr>
        <p:spPr>
          <a:xfrm>
            <a:off x="4705350" y="3810000"/>
            <a:ext cx="27432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backtest_result.csv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close / pred_up / position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strategy_ret / buy_hold_ret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strategy_cum / buy_hold_cum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23D9DE9-AC1E-4013-B4AA-0FF47820DE62}"/>
              </a:ext>
            </a:extLst>
          </p:cNvPr>
          <p:cNvSpPr>
            <a:spLocks noGrp="1"/>
          </p:cNvSpPr>
          <p:nvPr/>
        </p:nvSpPr>
        <p:spPr>
          <a:xfrm>
            <a:off x="8115300" y="3295650"/>
            <a:ext cx="31242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10CCB4B-0EBD-48F8-AE1E-A40D51E6BFCF}"/>
              </a:ext>
            </a:extLst>
          </p:cNvPr>
          <p:cNvSpPr>
            <a:spLocks noGrp="1"/>
          </p:cNvSpPr>
          <p:nvPr/>
        </p:nvSpPr>
        <p:spPr>
          <a:xfrm>
            <a:off x="8115300" y="3295650"/>
            <a:ext cx="66675" cy="14287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E900F92-B2E7-4A82-B092-FDED57EC9A6D}"/>
              </a:ext>
            </a:extLst>
          </p:cNvPr>
          <p:cNvSpPr>
            <a:spLocks noGrp="1"/>
          </p:cNvSpPr>
          <p:nvPr/>
        </p:nvSpPr>
        <p:spPr>
          <a:xfrm>
            <a:off x="8324850" y="346710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重點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94DAC0D-C9E2-48CA-81AF-DE3841989E58}"/>
              </a:ext>
            </a:extLst>
          </p:cNvPr>
          <p:cNvSpPr>
            <a:spLocks noGrp="1"/>
          </p:cNvSpPr>
          <p:nvPr/>
        </p:nvSpPr>
        <p:spPr>
          <a:xfrm>
            <a:off x="8324850" y="3810000"/>
            <a:ext cx="27432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validation </a:t>
            </a:r>
            <a:r>
              <a:rPr lang="zh-TW" altLang="en-US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用來做決策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test </a:t>
            </a:r>
            <a:r>
              <a:rPr lang="zh-TW" altLang="en-US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用來做最後報告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Buy &amp; Hold </a:t>
            </a:r>
            <a:r>
              <a:rPr lang="zh-TW" altLang="en-US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是必要基準</a:t>
            </a:r>
          </a:p>
          <a:p>
            <a:pPr algn="l"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交易成本會影響策略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0C25326-0398-4152-9BF3-EC76034BF8F2}"/>
              </a:ext>
            </a:extLst>
          </p:cNvPr>
          <p:cNvSpPr>
            <a:spLocks noGrp="1"/>
          </p:cNvSpPr>
          <p:nvPr/>
        </p:nvSpPr>
        <p:spPr>
          <a:xfrm>
            <a:off x="952500" y="5314950"/>
            <a:ext cx="2190750" cy="323850"/>
          </a:xfrm>
          <a:prstGeom prst="rect">
            <a:avLst/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714D072-D3C9-4BA8-B244-6CD085297BBE}"/>
              </a:ext>
            </a:extLst>
          </p:cNvPr>
          <p:cNvSpPr>
            <a:spLocks noGrp="1"/>
          </p:cNvSpPr>
          <p:nvPr/>
        </p:nvSpPr>
        <p:spPr>
          <a:xfrm>
            <a:off x="1028700" y="539115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 command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139A9B6-38BB-4799-AA2E-12EEC30E4E7A}"/>
              </a:ext>
            </a:extLst>
          </p:cNvPr>
          <p:cNvSpPr>
            <a:spLocks noGrp="1"/>
          </p:cNvSpPr>
          <p:nvPr/>
        </p:nvSpPr>
        <p:spPr>
          <a:xfrm>
            <a:off x="3429000" y="5353050"/>
            <a:ext cx="647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streamlit run technical_strategy/technical_app.py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CF05B0D-4A59-4C0B-89BE-460A69C90BC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NCCU Data Science Final Project · technical_strategy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4C0D684-428F-48CC-B0A9-88F0B1F9B3F9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66765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CC0EBCB4-12EF-4351-BC4E-774012E631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4E433E-ADA2-452F-A4FC-A8D3FF9217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6BF318-A2B7-4919-BC66-ED2D37089DC6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ACBA20-4851-4000-A3E7-63052961791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36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36A7A"/>
                </a:solidFill>
                <a:latin typeface="Aptos"/>
                <a:ea typeface="Aptos"/>
                <a:cs typeface="Aptos"/>
              </a:rPr>
              <a:t>5 / FINDINGS &amp; NEXT STEPS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49C309-4D87-4841-AB20-33B86D714D8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895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結論：technical_strategy 是乾淨的 baseline，但仍需要更嚴謹的風控與顯著性檢查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565EC5-A92C-4125-9262-53F5BFC37FAF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32385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F9DB43-BD99-444E-A482-CA71F0BA2633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66675" cy="16383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4A97AC-E540-4D48-AB79-54F75EE12828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目前已完成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865B96-676F-425B-88C2-A142CAC2534C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28575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228600" indent="-228600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取得 </a:t>
            </a: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Yahoo Finance OHLCV</a:t>
            </a:r>
            <a:endParaRPr lang="af-ZA" altLang="zh-TW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228600" indent="-228600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技術指標特徵工程</a:t>
            </a:r>
            <a:endParaRPr lang="zh-TW" altLang="en-US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228600" indent="-228600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Train / validation / test </a:t>
            </a:r>
            <a:r>
              <a:rPr lang="zh-TW" altLang="en-US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切分</a:t>
            </a:r>
          </a:p>
          <a:p>
            <a:pPr marL="228600" indent="-228600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多模型比較</a:t>
            </a:r>
          </a:p>
          <a:p>
            <a:pPr marL="228600" indent="-228600" algn="l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Backtest </a:t>
            </a:r>
            <a:r>
              <a:rPr lang="zh-TW" altLang="en-US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與 </a:t>
            </a: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dashboard</a:t>
            </a:r>
            <a:endParaRPr lang="af-ZA" altLang="zh-TW" sz="11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6D88A5-7250-425D-A507-E6C95AC635BE}"/>
              </a:ext>
            </a:extLst>
          </p:cNvPr>
          <p:cNvSpPr>
            <a:spLocks noGrp="1"/>
          </p:cNvSpPr>
          <p:nvPr/>
        </p:nvSpPr>
        <p:spPr>
          <a:xfrm>
            <a:off x="4419600" y="1752600"/>
            <a:ext cx="32385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EBA17-1017-48C0-93FF-E23123F289CA}"/>
              </a:ext>
            </a:extLst>
          </p:cNvPr>
          <p:cNvSpPr>
            <a:spLocks noGrp="1"/>
          </p:cNvSpPr>
          <p:nvPr/>
        </p:nvSpPr>
        <p:spPr>
          <a:xfrm>
            <a:off x="4419600" y="1752600"/>
            <a:ext cx="66675" cy="163830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D205D0-22BC-4805-98CC-1FD110C86BB0}"/>
              </a:ext>
            </a:extLst>
          </p:cNvPr>
          <p:cNvSpPr>
            <a:spLocks noGrp="1"/>
          </p:cNvSpPr>
          <p:nvPr/>
        </p:nvSpPr>
        <p:spPr>
          <a:xfrm>
            <a:off x="4629150" y="19240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主要限制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E18198-E58C-42D9-BD3E-9389318257B9}"/>
              </a:ext>
            </a:extLst>
          </p:cNvPr>
          <p:cNvSpPr>
            <a:spLocks noGrp="1"/>
          </p:cNvSpPr>
          <p:nvPr/>
        </p:nvSpPr>
        <p:spPr>
          <a:xfrm>
            <a:off x="4629150" y="2266950"/>
            <a:ext cx="28575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228600" indent="-228600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只使用技術面</a:t>
            </a:r>
          </a:p>
          <a:p>
            <a:pPr marL="228600" indent="-228600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隔日漲跌雜訊高</a:t>
            </a:r>
          </a:p>
          <a:p>
            <a:pPr marL="228600" indent="-228600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交易成本為假設值</a:t>
            </a:r>
          </a:p>
          <a:p>
            <a:pPr marL="228600" indent="-228600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尚未做正式統計顯著性檢定</a:t>
            </a:r>
          </a:p>
          <a:p>
            <a:pPr marL="228600" indent="-228600" algn="l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非真實下單系統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CBC61E-116B-47D7-9D23-8F6E94EDCC30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32385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406592-951B-46D1-8319-7FEEB618B54C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66675" cy="16383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6375FB-DDCD-4F89-AF7F-DBAE30A702B3}"/>
              </a:ext>
            </a:extLst>
          </p:cNvPr>
          <p:cNvSpPr>
            <a:spLocks noGrp="1"/>
          </p:cNvSpPr>
          <p:nvPr/>
        </p:nvSpPr>
        <p:spPr>
          <a:xfrm>
            <a:off x="8324850" y="19240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下一步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FD7B06-33C3-461D-9021-C6E7E0876E95}"/>
              </a:ext>
            </a:extLst>
          </p:cNvPr>
          <p:cNvSpPr>
            <a:spLocks noGrp="1"/>
          </p:cNvSpPr>
          <p:nvPr/>
        </p:nvSpPr>
        <p:spPr>
          <a:xfrm>
            <a:off x="8324850" y="2266950"/>
            <a:ext cx="28575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228600" indent="-228600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停利停損與動態倉位</a:t>
            </a:r>
            <a:endParaRPr lang="zh-TW"/>
          </a:p>
          <a:p>
            <a:pPr marL="228600" indent="-228600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更強 </a:t>
            </a:r>
            <a:r>
              <a:rPr lang="af-ZA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baseline</a:t>
            </a:r>
            <a:endParaRPr lang="af-ZA" altLang="zh-TW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228600" indent="-228600" algn="l">
              <a:buAutoNum type="arabicPeriod"/>
              <a:defRPr sz="1013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lang="zh-TW" altLang="en-US"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統計檢定與信賴區間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1454AB-8836-45D9-A782-2E57EAFF7E0E}"/>
              </a:ext>
            </a:extLst>
          </p:cNvPr>
          <p:cNvSpPr>
            <a:spLocks noGrp="1"/>
          </p:cNvSpPr>
          <p:nvPr/>
        </p:nvSpPr>
        <p:spPr>
          <a:xfrm>
            <a:off x="952500" y="4076700"/>
            <a:ext cx="10001250" cy="1181100"/>
          </a:xfrm>
          <a:prstGeom prst="rect">
            <a:avLst/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70B612-AB4B-4985-B307-B1C4380ED33C}"/>
              </a:ext>
            </a:extLst>
          </p:cNvPr>
          <p:cNvSpPr>
            <a:spLocks noGrp="1"/>
          </p:cNvSpPr>
          <p:nvPr/>
        </p:nvSpPr>
        <p:spPr>
          <a:xfrm>
            <a:off x="1200150" y="4324350"/>
            <a:ext cx="9525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5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Final takeaway: 這個專案展示完整資料科學流程；真正的價值不在「模型看起來很複雜」，而在能否用樣本外回測證明訊號比被動持有更有策略意義。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A356BED-C15F-4A04-96A1-7E3CBD9C99C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NCCU Data Science Final Project · technical_strategy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6C69161-7665-4DDE-9DE3-7861CE083CE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3014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DF63E524-93C1-45AB-B8F7-88A6121AB1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6A0190-3E0A-496A-996F-CF94F70EEE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425FC8-29D7-46A3-BF1F-D30684F9A218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BEA833-1936-4C3E-BBC3-55649342861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A7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7C7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6F4B1A-44D7-4EE0-8DED-869FD8E9BAC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240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References：本專案使用的程式、套件與方法來源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F0C2EE-73CD-4D15-95D4-304CCC27323A}"/>
              </a:ext>
            </a:extLst>
          </p:cNvPr>
          <p:cNvSpPr>
            <a:spLocks noGrp="1"/>
          </p:cNvSpPr>
          <p:nvPr/>
        </p:nvSpPr>
        <p:spPr>
          <a:xfrm>
            <a:off x="628650" y="1295400"/>
            <a:ext cx="895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Microsoft JhengHei UI"/>
                <a:ea typeface="Microsoft JhengHei UI"/>
                <a:cs typeface="Microsoft JhengHei UI"/>
              </a:defRPr>
            </a:pPr>
            <a:endParaRPr lang="zh-TW" altLang="en-US" sz="1100" b="0">
              <a:solidFill>
                <a:srgbClr val="64748B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932A38-50FF-44F1-8586-267AD64C7B50}"/>
              </a:ext>
            </a:extLst>
          </p:cNvPr>
          <p:cNvSpPr>
            <a:spLocks noGrp="1"/>
          </p:cNvSpPr>
          <p:nvPr/>
        </p:nvSpPr>
        <p:spPr>
          <a:xfrm>
            <a:off x="666750" y="1828800"/>
            <a:ext cx="33813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6314FD-07F8-4146-AD07-5D79E895B20E}"/>
              </a:ext>
            </a:extLst>
          </p:cNvPr>
          <p:cNvSpPr>
            <a:spLocks noGrp="1"/>
          </p:cNvSpPr>
          <p:nvPr/>
        </p:nvSpPr>
        <p:spPr>
          <a:xfrm>
            <a:off x="666750" y="1828800"/>
            <a:ext cx="66675" cy="314325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1C654E-2583-4D5F-9C7B-E3ED697BA1C7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30194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Code / Implementation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C7E721-8C04-452A-AB56-6787A8282BB6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3019425" cy="2514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Project code: </a:t>
            </a:r>
            <a:br>
              <a:rPr lang="zh-TW" sz="1100">
                <a:latin typeface="Microsoft JhengHei UI"/>
                <a:ea typeface="Microsoft JhengHei UI"/>
                <a:cs typeface="Microsoft JhengHei UI"/>
              </a:rPr>
            </a:br>
            <a:r>
              <a:rPr lang="zh-TW" altLang="en-US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本組自行整合與實作 </a:t>
            </a:r>
            <a:r>
              <a:rPr lang="en-US" altLang="zh-TW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technical_strategy/technical_system.py</a:t>
            </a:r>
            <a:r>
              <a:rPr lang="zh-TW" altLang="en-US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、</a:t>
            </a:r>
            <a:r>
              <a:rPr lang="en-US" altLang="zh-TW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technical_strategy/technical_app.py</a:t>
            </a:r>
            <a:r>
              <a:rPr lang="zh-TW" altLang="en-US" sz="110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。</a:t>
            </a:r>
            <a:endParaRPr lang="zh-TW" sz="1100"/>
          </a:p>
          <a:p>
            <a:endParaRPr sz="11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AI assistance disclosure: </a:t>
            </a:r>
            <a:br>
              <a:rPr lang="zh-TW" sz="1100">
                <a:latin typeface="Microsoft JhengHei UI"/>
                <a:ea typeface="Microsoft JhengHei UI"/>
                <a:cs typeface="Microsoft JhengHei UI"/>
              </a:rPr>
            </a:b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使用 OpenAI ChatGPT / Codex 協助程式重構、debug、Streamlit UI 調整與簡報整理；最終內容由本組檢查與驗證。</a:t>
            </a:r>
          </a:p>
          <a:p>
            <a:endParaRPr sz="11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Data source API: </a:t>
            </a:r>
            <a:br>
              <a:rPr lang="zh-TW" sz="1100">
                <a:latin typeface="Microsoft JhengHei UI"/>
                <a:ea typeface="Microsoft JhengHei UI"/>
                <a:cs typeface="Microsoft JhengHei UI"/>
              </a:rPr>
            </a:b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Yahoo Finance price data through yfinance.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C01AB7-656B-4C3A-A893-01B04641A688}"/>
              </a:ext>
            </a:extLst>
          </p:cNvPr>
          <p:cNvSpPr>
            <a:spLocks noGrp="1"/>
          </p:cNvSpPr>
          <p:nvPr/>
        </p:nvSpPr>
        <p:spPr>
          <a:xfrm>
            <a:off x="4400550" y="1828800"/>
            <a:ext cx="33813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70CACD-6D7D-407F-9139-79DABD2B9C28}"/>
              </a:ext>
            </a:extLst>
          </p:cNvPr>
          <p:cNvSpPr>
            <a:spLocks noGrp="1"/>
          </p:cNvSpPr>
          <p:nvPr/>
        </p:nvSpPr>
        <p:spPr>
          <a:xfrm>
            <a:off x="4400550" y="1828800"/>
            <a:ext cx="66675" cy="3143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B19DA6-390E-487C-93FD-F0AF236D5FC0}"/>
              </a:ext>
            </a:extLst>
          </p:cNvPr>
          <p:cNvSpPr>
            <a:spLocks noGrp="1"/>
          </p:cNvSpPr>
          <p:nvPr/>
        </p:nvSpPr>
        <p:spPr>
          <a:xfrm>
            <a:off x="4591050" y="2000250"/>
            <a:ext cx="30194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Packages Used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FE5B9A-0FB7-493B-9150-3273CFF496EC}"/>
              </a:ext>
            </a:extLst>
          </p:cNvPr>
          <p:cNvSpPr>
            <a:spLocks noGrp="1"/>
          </p:cNvSpPr>
          <p:nvPr/>
        </p:nvSpPr>
        <p:spPr>
          <a:xfrm>
            <a:off x="4591050" y="2362200"/>
            <a:ext cx="3019425" cy="2514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yfinance: download OHLCV stock data.</a:t>
            </a:r>
            <a:endParaRPr lang="zh-TW" altLang="en-US" sz="11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endParaRPr lang="zh-TW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 algn="l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pandas / NumPy: data cleaning, feature engineering, numerical operations.</a:t>
            </a:r>
          </a:p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endParaRPr lang="zh-TW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scikit-learn: Logistic Regression, PCA, RandomForest, metrics, Pipeline.</a:t>
            </a:r>
            <a:endParaRPr lang="zh-TW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 algn="l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endParaRPr sz="11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 algn="l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XGBoost: optional gradient boosting model.</a:t>
            </a:r>
          </a:p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endParaRPr lang="zh-TW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 algn="l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Streamlit: interactive dashboard.</a:t>
            </a:r>
          </a:p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endParaRPr lang="zh-TW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 algn="l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Plotly: equity curve and result visualization.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52AE8C-1080-4FE9-A65F-876C5B8A7A76}"/>
              </a:ext>
            </a:extLst>
          </p:cNvPr>
          <p:cNvSpPr>
            <a:spLocks noGrp="1"/>
          </p:cNvSpPr>
          <p:nvPr/>
        </p:nvSpPr>
        <p:spPr>
          <a:xfrm>
            <a:off x="8134350" y="1828800"/>
            <a:ext cx="33813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38318F-DC59-461D-8C00-85DF7BE58B13}"/>
              </a:ext>
            </a:extLst>
          </p:cNvPr>
          <p:cNvSpPr>
            <a:spLocks noGrp="1"/>
          </p:cNvSpPr>
          <p:nvPr/>
        </p:nvSpPr>
        <p:spPr>
          <a:xfrm>
            <a:off x="8134350" y="1828800"/>
            <a:ext cx="66675" cy="31432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83F8E3-325D-4FFC-A6F3-EB4BB74AD46B}"/>
              </a:ext>
            </a:extLst>
          </p:cNvPr>
          <p:cNvSpPr>
            <a:spLocks noGrp="1"/>
          </p:cNvSpPr>
          <p:nvPr/>
        </p:nvSpPr>
        <p:spPr>
          <a:xfrm>
            <a:off x="8324850" y="2000250"/>
            <a:ext cx="30194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350" b="1">
                <a:solidFill>
                  <a:srgbClr val="111827"/>
                </a:solidFill>
                <a:latin typeface="Microsoft JhengHei UI"/>
                <a:ea typeface="Microsoft JhengHei UI"/>
                <a:cs typeface="Microsoft JhengHei UI"/>
              </a:rPr>
              <a:t>Related Methods / Publications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8BC09AC-0CF2-4608-9241-9E8CCC310198}"/>
              </a:ext>
            </a:extLst>
          </p:cNvPr>
          <p:cNvSpPr>
            <a:spLocks noGrp="1"/>
          </p:cNvSpPr>
          <p:nvPr/>
        </p:nvSpPr>
        <p:spPr>
          <a:xfrm>
            <a:off x="8324850" y="2362200"/>
            <a:ext cx="3019425" cy="2514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Breiman, L. (2001). Random Forests. Machine Learning, 45(1), 5-32.</a:t>
            </a:r>
            <a:endParaRPr lang="zh-TW" altLang="en-US" sz="1100" b="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endParaRPr lang="zh-TW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 algn="l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Chen, T. &amp; Guestrin, C. (2016). XGBoost: A Scalable Tree Boosting System. KDD.</a:t>
            </a:r>
          </a:p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endParaRPr lang="zh-TW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 algn="l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Pedregosa et al. (2011). Scikit-learn: Machine Learning in Python. JMLR.</a:t>
            </a:r>
          </a:p>
          <a:p>
            <a:pPr marL="171450" indent="-171450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endParaRPr lang="zh-TW" sz="1100">
              <a:solidFill>
                <a:srgbClr val="475569"/>
              </a:solidFill>
              <a:latin typeface="Microsoft JhengHei UI"/>
              <a:ea typeface="Microsoft JhengHei UI"/>
              <a:cs typeface="Microsoft JhengHei UI"/>
            </a:endParaRPr>
          </a:p>
          <a:p>
            <a:pPr marL="171450" indent="-171450" algn="l">
              <a:buFont typeface="Arial"/>
              <a:buChar char="•"/>
              <a:defRPr sz="96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100" b="0">
                <a:solidFill>
                  <a:srgbClr val="475569"/>
                </a:solidFill>
                <a:latin typeface="Microsoft JhengHei UI"/>
                <a:ea typeface="Microsoft JhengHei UI"/>
                <a:cs typeface="Microsoft JhengHei UI"/>
              </a:rPr>
              <a:t>Wilder, J. W. (1978). New Concepts in Technical Trading Systems.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D79DAF-5E2A-4A30-BFF4-24E5B71FFF50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648950" cy="666750"/>
          </a:xfrm>
          <a:prstGeom prst="rect">
            <a:avLst/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2F2BA1-B244-4E72-9EEB-F35E055D47C9}"/>
              </a:ext>
            </a:extLst>
          </p:cNvPr>
          <p:cNvSpPr>
            <a:spLocks noGrp="1"/>
          </p:cNvSpPr>
          <p:nvPr/>
        </p:nvSpPr>
        <p:spPr>
          <a:xfrm>
            <a:off x="990600" y="5524500"/>
            <a:ext cx="1009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defRPr>
            </a:pPr>
            <a:r>
              <a:rPr sz="1275" b="1">
                <a:solidFill>
                  <a:srgbClr val="FFFFFF"/>
                </a:solidFill>
                <a:latin typeface="Microsoft JhengHei UI"/>
                <a:ea typeface="Microsoft JhengHei UI"/>
                <a:cs typeface="Microsoft JhengHei UI"/>
              </a:rPr>
              <a:t>Reference principle: 本專案沒有直接複製外部完整程式碼；若有使用套件或 AI 協助，已在此頁揭露。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C85E32-B8C3-4DC7-A218-9C59E71EECC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Official docs: yfinance, pandas, NumPy, scikit-learn, XGBoost, Streamlit, Plotly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52906B9-C6A3-4B6A-9F36-F2598814AAFF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REF</a:t>
            </a:r>
          </a:p>
        </p:txBody>
      </p:sp>
    </p:spTree>
    <p:extLst>
      <p:ext uri="{BB962C8B-B14F-4D97-AF65-F5344CB8AC3E}">
        <p14:creationId xmlns:p14="http://schemas.microsoft.com/office/powerpoint/2010/main" val="307066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87553-3890-FE31-800A-373859C39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888B3B8-4AB3-F71A-9084-1AB4C0ECB0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7DF2C3-C84E-A6D9-0145-8E97B63E73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A7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8E6D42-2BAC-2EA4-ACC7-9E8A7A8D62E2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2857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DA5726-441B-0BE8-1077-98ECCA7160AA}"/>
              </a:ext>
            </a:extLst>
          </p:cNvPr>
          <p:cNvSpPr>
            <a:spLocks noGrp="1"/>
          </p:cNvSpPr>
          <p:nvPr/>
        </p:nvSpPr>
        <p:spPr>
          <a:xfrm>
            <a:off x="628650" y="1295400"/>
            <a:ext cx="895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Microsoft JhengHei UI"/>
                <a:ea typeface="Microsoft JhengHei UI"/>
                <a:cs typeface="Microsoft JhengHei UI"/>
              </a:defRPr>
            </a:pPr>
            <a:endParaRPr lang="zh-TW" altLang="en-US" sz="1100" b="0">
              <a:solidFill>
                <a:srgbClr val="64748B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46323B9-264F-0E82-73C6-CD545BBF6EDC}"/>
              </a:ext>
            </a:extLst>
          </p:cNvPr>
          <p:cNvSpPr txBox="1"/>
          <p:nvPr/>
        </p:nvSpPr>
        <p:spPr>
          <a:xfrm>
            <a:off x="5138615" y="3013808"/>
            <a:ext cx="191047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4800">
                <a:latin typeface="Harrington"/>
                <a:cs typeface="Dreaming Outloud Script Pro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8712569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寬螢幕</PresentationFormat>
  <Slides>11</Slides>
  <Notes>11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28</cp:revision>
  <dcterms:created xsi:type="dcterms:W3CDTF">2026-06-04T14:51:02Z</dcterms:created>
  <dcterms:modified xsi:type="dcterms:W3CDTF">2026-06-11T10:07:39Z</dcterms:modified>
</cp:coreProperties>
</file>